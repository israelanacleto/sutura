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saúde hoje é fragmentada: sistemas que não conversam, trabalho manual e glosas. A Sutura é a camada de integração que costura tudo num histórico único e automatiza o back-office — e os dados limpos ainda alimentam ferramentas clínicas de IA como a Sofya. Parceira de tecnologia: Oracle.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centro está a Sutura. Em verde, os beneficiários do cuidado. Em azul, clientes e operação que pagam e usam no dia a dia. Em laranja, os atores externos e a regulação. Em roxo, os parceiros de tecnologia — incluindo Oracle e soluções de IA como a Sofya, parceiras e não concorrentes. Em cinza, os sistemas que a Sutura conecta.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Sutura é uma camada SaaS que se conecta por cima dos ERPs de saúde existentes para unificar dados, automatizar o back-office e aplicar IA de bastidor. Não substitui os sistemas — conecta e organiza. Ao contrário de assistentes clínicos de IA como a Sofya, focamos em integração e back-office, e ainda alimentamos essas ferramentas com dados limpos. Roda em Oracle Cloud, modelo SaaS por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estimado: cerca de 50h por mês economizadas em tarefas manuais, menos glosas e mais receita, e histórico do paciente 100% unificado — todos números estimados. Por que nós: time com vivência real em ERP de saúde, conhecemos as dores por dentro, com experiência em Java/Spring Boot e Angular. Próximos passos: estamos na definição do problema; a seguir vem o conector e o MVP de unificação de dados; depois a automação e a camada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533426"/>
            <a:ext cx="17144999" cy="9525"/>
          </a:xfrm>
          <a:prstGeom prst="rect">
            <a:avLst/>
          </a:prstGeom>
          <a:solidFill>
            <a:srgbClr val="E2E6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560917"/>
            <a:ext cx="323784" cy="323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568" y="495267"/>
            <a:ext cx="4243296" cy="493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37" kern="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Picture — Sutura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1028650" y="1045600"/>
            <a:ext cx="4452482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Costurando os dados fragmentados da saúde</a:t>
            </a:r>
            <a:endParaRPr lang="en-US" sz="1575" dirty="0"/>
          </a:p>
        </p:txBody>
      </p:sp>
      <p:sp>
        <p:nvSpPr>
          <p:cNvPr id="6" name="Shape 3"/>
          <p:cNvSpPr/>
          <p:nvPr/>
        </p:nvSpPr>
        <p:spPr>
          <a:xfrm>
            <a:off x="15117133" y="983258"/>
            <a:ext cx="753401" cy="283600"/>
          </a:xfrm>
          <a:prstGeom prst="roundRect">
            <a:avLst>
              <a:gd name="adj" fmla="val 50000"/>
            </a:avLst>
          </a:prstGeom>
          <a:solidFill>
            <a:srgbClr val="FBEBE9"/>
          </a:solidFill>
          <a:ln w="5292">
            <a:solidFill>
              <a:srgbClr val="EBC9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236692" y="1086941"/>
            <a:ext cx="76150" cy="76150"/>
          </a:xfrm>
          <a:prstGeom prst="roundRect">
            <a:avLst>
              <a:gd name="adj" fmla="val 25016"/>
            </a:avLst>
          </a:prstGeom>
          <a:solidFill>
            <a:srgbClr val="C0584C"/>
          </a:solidFill>
          <a:ln/>
        </p:spPr>
      </p:sp>
      <p:sp>
        <p:nvSpPr>
          <p:cNvPr id="8" name="Text 5"/>
          <p:cNvSpPr/>
          <p:nvPr/>
        </p:nvSpPr>
        <p:spPr>
          <a:xfrm>
            <a:off x="15379485" y="1045683"/>
            <a:ext cx="447691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05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Dores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5965785" y="983258"/>
            <a:ext cx="827732" cy="283600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5292">
            <a:solidFill>
              <a:srgbClr val="C5D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85343" y="1086941"/>
            <a:ext cx="76150" cy="76150"/>
          </a:xfrm>
          <a:prstGeom prst="roundRect">
            <a:avLst>
              <a:gd name="adj" fmla="val 25016"/>
            </a:avLst>
          </a:prstGeom>
          <a:solidFill>
            <a:srgbClr val="2C6BC4"/>
          </a:solidFill>
          <a:ln/>
        </p:spPr>
      </p:sp>
      <p:sp>
        <p:nvSpPr>
          <p:cNvPr id="11" name="Text 8"/>
          <p:cNvSpPr/>
          <p:nvPr/>
        </p:nvSpPr>
        <p:spPr>
          <a:xfrm>
            <a:off x="16228135" y="1045683"/>
            <a:ext cx="52202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C6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Sutura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16888767" y="983258"/>
            <a:ext cx="827732" cy="28360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5292">
            <a:solidFill>
              <a:srgbClr val="C0E2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08325" y="1086941"/>
            <a:ext cx="76150" cy="76150"/>
          </a:xfrm>
          <a:prstGeom prst="roundRect">
            <a:avLst>
              <a:gd name="adj" fmla="val 25016"/>
            </a:avLst>
          </a:prstGeom>
          <a:solidFill>
            <a:srgbClr val="1F8A5B"/>
          </a:solidFill>
          <a:ln/>
        </p:spPr>
      </p:sp>
      <p:sp>
        <p:nvSpPr>
          <p:cNvPr id="14" name="Text 11"/>
          <p:cNvSpPr/>
          <p:nvPr/>
        </p:nvSpPr>
        <p:spPr>
          <a:xfrm>
            <a:off x="17151117" y="1045683"/>
            <a:ext cx="52202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Ganhos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571500" y="1824467"/>
            <a:ext cx="4663612" cy="7776848"/>
          </a:xfrm>
          <a:prstGeom prst="roundRect">
            <a:avLst>
              <a:gd name="adj" fmla="val 3676"/>
            </a:avLst>
          </a:prstGeom>
          <a:solidFill>
            <a:srgbClr val="FBEDEB"/>
          </a:solidFill>
          <a:ln w="10583">
            <a:solidFill>
              <a:srgbClr val="ECC8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1600" y="2080617"/>
            <a:ext cx="1198149" cy="224234"/>
          </a:xfrm>
          <a:prstGeom prst="roundRect">
            <a:avLst>
              <a:gd name="adj" fmla="val 25487"/>
            </a:avLst>
          </a:prstGeom>
          <a:solidFill>
            <a:srgbClr val="F6DCD7"/>
          </a:solidFill>
          <a:ln/>
        </p:spPr>
      </p:sp>
      <p:sp>
        <p:nvSpPr>
          <p:cNvPr id="17" name="Text 14"/>
          <p:cNvSpPr/>
          <p:nvPr/>
        </p:nvSpPr>
        <p:spPr>
          <a:xfrm>
            <a:off x="877325" y="2118717"/>
            <a:ext cx="1102899" cy="186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C05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SITUAÇÃO ATUAL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84999" y="2044568"/>
            <a:ext cx="7064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91600" y="2474185"/>
            <a:ext cx="4223411" cy="993593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0176" y="2631860"/>
            <a:ext cx="434088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78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SISTEMAS ILHADOS · NÃO SE CONECTAM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 rot="-300000">
            <a:off x="931226" y="2902694"/>
            <a:ext cx="647700" cy="371475"/>
          </a:xfrm>
          <a:prstGeom prst="roundRect">
            <a:avLst>
              <a:gd name="adj" fmla="val 20513"/>
            </a:avLst>
          </a:prstGeom>
          <a:solidFill>
            <a:srgbClr val="FBEDEB"/>
          </a:solidFill>
          <a:ln w="10583">
            <a:solidFill>
              <a:srgbClr val="E0A89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 rot="-300000">
            <a:off x="1056109" y="2999002"/>
            <a:ext cx="474133" cy="216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4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 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014885" y="2945557"/>
            <a:ext cx="284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0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 rot="180000">
            <a:off x="2659451" y="2902694"/>
            <a:ext cx="647700" cy="371475"/>
          </a:xfrm>
          <a:prstGeom prst="roundRect">
            <a:avLst>
              <a:gd name="adj" fmla="val 20513"/>
            </a:avLst>
          </a:prstGeom>
          <a:solidFill>
            <a:srgbClr val="FBEDEB"/>
          </a:solidFill>
          <a:ln w="10583">
            <a:solidFill>
              <a:srgbClr val="E0A89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 rot="180000">
            <a:off x="2784334" y="2999002"/>
            <a:ext cx="474134" cy="216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4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 B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743110" y="2945557"/>
            <a:ext cx="284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0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 rot="-120000">
            <a:off x="4388643" y="2902694"/>
            <a:ext cx="485775" cy="371475"/>
          </a:xfrm>
          <a:prstGeom prst="roundRect">
            <a:avLst>
              <a:gd name="adj" fmla="val 20513"/>
            </a:avLst>
          </a:prstGeom>
          <a:solidFill>
            <a:srgbClr val="FBEDEB"/>
          </a:solidFill>
          <a:ln w="10583">
            <a:solidFill>
              <a:srgbClr val="E0A89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 rot="-120000">
            <a:off x="4513527" y="2999002"/>
            <a:ext cx="312208" cy="216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84B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91600" y="3601062"/>
            <a:ext cx="4223411" cy="653190"/>
          </a:xfrm>
          <a:prstGeom prst="roundRect">
            <a:avLst>
              <a:gd name="adj" fmla="val 16041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767" y="3803799"/>
            <a:ext cx="132457" cy="247633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95999" y="3730129"/>
            <a:ext cx="3780971" cy="433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Procedimentos recorrentes (Infusão a cada 4 semanas) vira sempre um </a:t>
            </a:r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(e prontuário) novo</a:t>
            </a:r>
            <a:endParaRPr lang="en-US" sz="1163" dirty="0"/>
          </a:p>
        </p:txBody>
      </p:sp>
      <p:sp>
        <p:nvSpPr>
          <p:cNvPr id="32" name="Shape 28"/>
          <p:cNvSpPr/>
          <p:nvPr/>
        </p:nvSpPr>
        <p:spPr>
          <a:xfrm>
            <a:off x="791600" y="4359010"/>
            <a:ext cx="4223411" cy="658482"/>
          </a:xfrm>
          <a:prstGeom prst="roundRect">
            <a:avLst>
              <a:gd name="adj" fmla="val 15912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767" y="4564393"/>
            <a:ext cx="238704" cy="24763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02246" y="4488077"/>
            <a:ext cx="3671537" cy="43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Cadastros e tabelas importados à mão </a:t>
            </a:r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(Excel quebrado)</a:t>
            </a:r>
            <a:endParaRPr lang="en-US" sz="1163" dirty="0"/>
          </a:p>
        </p:txBody>
      </p:sp>
      <p:sp>
        <p:nvSpPr>
          <p:cNvPr id="35" name="Shape 30"/>
          <p:cNvSpPr/>
          <p:nvPr/>
        </p:nvSpPr>
        <p:spPr>
          <a:xfrm>
            <a:off x="791600" y="5122250"/>
            <a:ext cx="4223411" cy="505768"/>
          </a:xfrm>
          <a:prstGeom prst="roundRect">
            <a:avLst>
              <a:gd name="adj" fmla="val 20716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767" y="5251317"/>
            <a:ext cx="247633" cy="24763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11176" y="5275047"/>
            <a:ext cx="3198730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perde </a:t>
            </a:r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+50h/mês </a:t>
            </a:r>
            <a:pPr algn="l" indent="0" marL="0">
              <a:lnSpc>
                <a:spcPct val="132000"/>
              </a:lnSpc>
              <a:buNone/>
            </a:pPr>
            <a:r>
              <a:rPr lang="en-US" sz="1163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tarefas manuais</a:t>
            </a:r>
            <a:endParaRPr lang="en-US" sz="1163" dirty="0"/>
          </a:p>
        </p:txBody>
      </p:sp>
      <p:sp>
        <p:nvSpPr>
          <p:cNvPr id="38" name="Shape 32"/>
          <p:cNvSpPr/>
          <p:nvPr/>
        </p:nvSpPr>
        <p:spPr>
          <a:xfrm>
            <a:off x="791600" y="5732776"/>
            <a:ext cx="4223411" cy="505768"/>
          </a:xfrm>
          <a:prstGeom prst="roundRect">
            <a:avLst>
              <a:gd name="adj" fmla="val 20716"/>
            </a:avLst>
          </a:prstGeom>
          <a:solidFill>
            <a:srgbClr val="F6DCD7"/>
          </a:solidFill>
          <a:ln w="5292">
            <a:solidFill>
              <a:srgbClr val="E0A89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767" y="5861843"/>
            <a:ext cx="247633" cy="24763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311176" y="5885573"/>
            <a:ext cx="2019465" cy="238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8A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Glosas </a:t>
            </a:r>
            <a:pPr algn="l" indent="0" marL="0">
              <a:lnSpc>
                <a:spcPct val="132000"/>
              </a:lnSpc>
              <a:buNone/>
            </a:pPr>
            <a:r>
              <a:rPr lang="en-US" sz="1163" dirty="0">
                <a:solidFill>
                  <a:srgbClr val="8A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erro de cadastro</a:t>
            </a:r>
            <a:endParaRPr lang="en-US" sz="1163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06512" y="5541450"/>
            <a:ext cx="495267" cy="342883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6073179" y="1824467"/>
            <a:ext cx="6141723" cy="7776848"/>
          </a:xfrm>
          <a:prstGeom prst="roundRect">
            <a:avLst>
              <a:gd name="adj" fmla="val 2792"/>
            </a:avLst>
          </a:prstGeom>
          <a:solidFill>
            <a:srgbClr val="E9F1FB"/>
          </a:solidFill>
          <a:ln w="10583">
            <a:solidFill>
              <a:srgbClr val="C2D6F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293280" y="2123943"/>
            <a:ext cx="611435" cy="224234"/>
          </a:xfrm>
          <a:prstGeom prst="roundRect">
            <a:avLst>
              <a:gd name="adj" fmla="val 25487"/>
            </a:avLst>
          </a:prstGeom>
          <a:solidFill>
            <a:srgbClr val="D6E5F8"/>
          </a:solidFill>
          <a:ln/>
        </p:spPr>
      </p:sp>
      <p:sp>
        <p:nvSpPr>
          <p:cNvPr id="44" name="Text 36"/>
          <p:cNvSpPr/>
          <p:nvPr/>
        </p:nvSpPr>
        <p:spPr>
          <a:xfrm>
            <a:off x="6379005" y="2162043"/>
            <a:ext cx="516185" cy="186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2C6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SUTURA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999965" y="2087893"/>
            <a:ext cx="223074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de Integração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10664113" y="2044568"/>
            <a:ext cx="1330689" cy="382984"/>
          </a:xfrm>
          <a:prstGeom prst="roundRect">
            <a:avLst>
              <a:gd name="adj" fmla="val 24870"/>
            </a:avLst>
          </a:prstGeom>
          <a:solidFill>
            <a:srgbClr val="F0EAFB"/>
          </a:solidFill>
          <a:ln w="10583">
            <a:solidFill>
              <a:srgbClr val="D3C3F0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88964" y="2131301"/>
            <a:ext cx="209517" cy="209517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1084140" y="2159331"/>
            <a:ext cx="862012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IA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6293280" y="2560836"/>
            <a:ext cx="5701522" cy="6463853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5292">
            <a:solidFill>
              <a:srgbClr val="CFE0F4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469971" y="4921829"/>
            <a:ext cx="1382994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E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ERPs DE SAÚDE</a:t>
            </a:r>
            <a:endParaRPr lang="en-US" sz="825" dirty="0"/>
          </a:p>
        </p:txBody>
      </p:sp>
      <p:sp>
        <p:nvSpPr>
          <p:cNvPr id="51" name="Shape 42"/>
          <p:cNvSpPr/>
          <p:nvPr/>
        </p:nvSpPr>
        <p:spPr>
          <a:xfrm>
            <a:off x="6469971" y="5187404"/>
            <a:ext cx="1257267" cy="415892"/>
          </a:xfrm>
          <a:prstGeom prst="roundRect">
            <a:avLst>
              <a:gd name="adj" fmla="val 20612"/>
            </a:avLst>
          </a:prstGeom>
          <a:solidFill>
            <a:srgbClr val="EDEFF3"/>
          </a:solidFill>
          <a:ln w="10583">
            <a:solidFill>
              <a:srgbClr val="C9D0DA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604331" y="5357233"/>
            <a:ext cx="76150" cy="76150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53" name="Text 44"/>
          <p:cNvSpPr/>
          <p:nvPr/>
        </p:nvSpPr>
        <p:spPr>
          <a:xfrm>
            <a:off x="6766139" y="5302746"/>
            <a:ext cx="247683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46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125" dirty="0"/>
          </a:p>
        </p:txBody>
      </p:sp>
      <p:sp>
        <p:nvSpPr>
          <p:cNvPr id="54" name="Shape 45"/>
          <p:cNvSpPr/>
          <p:nvPr/>
        </p:nvSpPr>
        <p:spPr>
          <a:xfrm>
            <a:off x="6469971" y="5717563"/>
            <a:ext cx="1257267" cy="415892"/>
          </a:xfrm>
          <a:prstGeom prst="roundRect">
            <a:avLst>
              <a:gd name="adj" fmla="val 20612"/>
            </a:avLst>
          </a:prstGeom>
          <a:solidFill>
            <a:srgbClr val="EDEFF3"/>
          </a:solidFill>
          <a:ln w="10583">
            <a:solidFill>
              <a:srgbClr val="C9D0DA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6604331" y="5887392"/>
            <a:ext cx="76150" cy="76150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56" name="Text 47"/>
          <p:cNvSpPr/>
          <p:nvPr/>
        </p:nvSpPr>
        <p:spPr>
          <a:xfrm>
            <a:off x="6766139" y="5832904"/>
            <a:ext cx="419166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46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Tasy</a:t>
            </a:r>
            <a:endParaRPr lang="en-US" sz="1125" dirty="0"/>
          </a:p>
        </p:txBody>
      </p:sp>
      <p:sp>
        <p:nvSpPr>
          <p:cNvPr id="57" name="Shape 48"/>
          <p:cNvSpPr/>
          <p:nvPr/>
        </p:nvSpPr>
        <p:spPr>
          <a:xfrm>
            <a:off x="6469971" y="6247722"/>
            <a:ext cx="1257267" cy="415892"/>
          </a:xfrm>
          <a:prstGeom prst="roundRect">
            <a:avLst>
              <a:gd name="adj" fmla="val 20612"/>
            </a:avLst>
          </a:prstGeom>
          <a:solidFill>
            <a:srgbClr val="EDEFF3"/>
          </a:solidFill>
          <a:ln w="10583">
            <a:solidFill>
              <a:srgbClr val="C9D0DA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6604331" y="6417551"/>
            <a:ext cx="76150" cy="76150"/>
          </a:xfrm>
          <a:prstGeom prst="ellipse">
            <a:avLst/>
          </a:prstGeom>
          <a:solidFill>
            <a:srgbClr val="8A94A3"/>
          </a:solidFill>
          <a:ln/>
        </p:spPr>
      </p:sp>
      <p:sp>
        <p:nvSpPr>
          <p:cNvPr id="59" name="Text 50"/>
          <p:cNvSpPr/>
          <p:nvPr/>
        </p:nvSpPr>
        <p:spPr>
          <a:xfrm>
            <a:off x="6766139" y="6363063"/>
            <a:ext cx="247683" cy="22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C46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+N</a:t>
            </a:r>
            <a:endParaRPr lang="en-US" sz="1125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27238" y="4935471"/>
            <a:ext cx="533383" cy="1714500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8355872" y="5223371"/>
            <a:ext cx="914383" cy="914383"/>
          </a:xfrm>
          <a:prstGeom prst="ellipse">
            <a:avLst/>
          </a:prstGeom>
          <a:solidFill>
            <a:srgbClr val="2C6BC4"/>
          </a:solidFill>
          <a:ln/>
          <a:effectLst>
            <a:outerShdw sx="100000" sy="100000" kx="0" ky="0" algn="bl" rotWithShape="0" blurRad="209550" dist="76200" dir="5400000">
              <a:srgbClr val="2C6BC4">
                <a:alpha val="28000"/>
              </a:srgbClr>
            </a:outerShdw>
          </a:effectLst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51130" y="5415442"/>
            <a:ext cx="323784" cy="323784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8701567" y="5786851"/>
            <a:ext cx="29911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75" dirty="0"/>
          </a:p>
        </p:txBody>
      </p:sp>
      <p:sp>
        <p:nvSpPr>
          <p:cNvPr id="64" name="Text 53"/>
          <p:cNvSpPr/>
          <p:nvPr/>
        </p:nvSpPr>
        <p:spPr>
          <a:xfrm>
            <a:off x="8388961" y="6213904"/>
            <a:ext cx="848204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 único</a:t>
            </a:r>
            <a:endParaRPr lang="en-US" sz="90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65505" y="5678454"/>
            <a:ext cx="342883" cy="228534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9708389" y="4917033"/>
            <a:ext cx="2109721" cy="895284"/>
          </a:xfrm>
          <a:prstGeom prst="roundRect">
            <a:avLst>
              <a:gd name="adj" fmla="val 11703"/>
            </a:avLst>
          </a:prstGeom>
          <a:solidFill>
            <a:srgbClr val="FBECE9"/>
          </a:solidFill>
          <a:ln w="10583">
            <a:solidFill>
              <a:srgbClr val="E8B9B0"/>
            </a:solidFill>
            <a:prstDash val="solid"/>
          </a:ln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852256" y="5221800"/>
            <a:ext cx="249618" cy="28575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10216140" y="5041883"/>
            <a:ext cx="153430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 unificada</a:t>
            </a:r>
            <a:endParaRPr lang="en-US" sz="1200" dirty="0"/>
          </a:p>
        </p:txBody>
      </p:sp>
      <p:sp>
        <p:nvSpPr>
          <p:cNvPr id="69" name="Text 56"/>
          <p:cNvSpPr/>
          <p:nvPr/>
        </p:nvSpPr>
        <p:spPr>
          <a:xfrm>
            <a:off x="10216140" y="5391133"/>
            <a:ext cx="153430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Oracle Autonomous DB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9708389" y="5926584"/>
            <a:ext cx="2109721" cy="741826"/>
          </a:xfrm>
          <a:prstGeom prst="roundRect">
            <a:avLst>
              <a:gd name="adj" fmla="val 14124"/>
            </a:avLst>
          </a:prstGeom>
          <a:solidFill>
            <a:srgbClr val="EAF2FB"/>
          </a:solidFill>
          <a:ln w="10583">
            <a:solidFill>
              <a:srgbClr val="C7DAF1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852256" y="6154621"/>
            <a:ext cx="279714" cy="285750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10246237" y="6051434"/>
            <a:ext cx="157080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automação</a:t>
            </a:r>
            <a:endParaRPr lang="en-US" sz="1200" dirty="0"/>
          </a:p>
        </p:txBody>
      </p:sp>
      <p:sp>
        <p:nvSpPr>
          <p:cNvPr id="73" name="Text 59"/>
          <p:cNvSpPr/>
          <p:nvPr/>
        </p:nvSpPr>
        <p:spPr>
          <a:xfrm>
            <a:off x="10246237" y="6226059"/>
            <a:ext cx="150420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 · cadastros · glosas</a:t>
            </a:r>
            <a:endParaRPr lang="en-US" sz="975" dirty="0"/>
          </a:p>
        </p:txBody>
      </p:sp>
      <p:sp>
        <p:nvSpPr>
          <p:cNvPr id="74" name="Text 60"/>
          <p:cNvSpPr/>
          <p:nvPr/>
        </p:nvSpPr>
        <p:spPr>
          <a:xfrm>
            <a:off x="6008204" y="9177023"/>
            <a:ext cx="6271675" cy="223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i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"Conectamos tudo — não somos só mais um sistema."</a:t>
            </a:r>
            <a:endParaRPr lang="en-US" sz="1275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386302" y="5541450"/>
            <a:ext cx="495267" cy="342883"/>
          </a:xfrm>
          <a:prstGeom prst="rect">
            <a:avLst/>
          </a:prstGeom>
        </p:spPr>
      </p:pic>
      <p:sp>
        <p:nvSpPr>
          <p:cNvPr id="76" name="Shape 61"/>
          <p:cNvSpPr/>
          <p:nvPr/>
        </p:nvSpPr>
        <p:spPr>
          <a:xfrm>
            <a:off x="13052970" y="1824467"/>
            <a:ext cx="4663529" cy="7776848"/>
          </a:xfrm>
          <a:prstGeom prst="roundRect">
            <a:avLst>
              <a:gd name="adj" fmla="val 3676"/>
            </a:avLst>
          </a:prstGeom>
          <a:solidFill>
            <a:srgbClr val="E8F4EE"/>
          </a:solidFill>
          <a:ln w="10583">
            <a:solidFill>
              <a:srgbClr val="BFE0CE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13273070" y="2080617"/>
            <a:ext cx="1051471" cy="224234"/>
          </a:xfrm>
          <a:prstGeom prst="roundRect">
            <a:avLst>
              <a:gd name="adj" fmla="val 25487"/>
            </a:avLst>
          </a:prstGeom>
          <a:solidFill>
            <a:srgbClr val="D4EBDD"/>
          </a:solidFill>
          <a:ln/>
        </p:spPr>
      </p:sp>
      <p:sp>
        <p:nvSpPr>
          <p:cNvPr id="78" name="Text 63"/>
          <p:cNvSpPr/>
          <p:nvPr/>
        </p:nvSpPr>
        <p:spPr>
          <a:xfrm>
            <a:off x="13358795" y="2118717"/>
            <a:ext cx="956221" cy="186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A SUTURA</a:t>
            </a:r>
            <a:endParaRPr lang="en-US" sz="900" dirty="0"/>
          </a:p>
        </p:txBody>
      </p:sp>
      <p:sp>
        <p:nvSpPr>
          <p:cNvPr id="79" name="Text 64"/>
          <p:cNvSpPr/>
          <p:nvPr/>
        </p:nvSpPr>
        <p:spPr>
          <a:xfrm>
            <a:off x="14419791" y="2044568"/>
            <a:ext cx="90054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Ganhos</a:t>
            </a:r>
            <a:endParaRPr lang="en-US" sz="1800" dirty="0"/>
          </a:p>
        </p:txBody>
      </p:sp>
      <p:sp>
        <p:nvSpPr>
          <p:cNvPr id="80" name="Shape 65"/>
          <p:cNvSpPr/>
          <p:nvPr/>
        </p:nvSpPr>
        <p:spPr>
          <a:xfrm>
            <a:off x="13273070" y="2474185"/>
            <a:ext cx="4223329" cy="640622"/>
          </a:xfrm>
          <a:prstGeom prst="roundRect">
            <a:avLst>
              <a:gd name="adj" fmla="val 16355"/>
            </a:avLst>
          </a:prstGeom>
          <a:solidFill>
            <a:srgbClr val="F0EAFB"/>
          </a:solidFill>
          <a:ln w="10583">
            <a:solidFill>
              <a:srgbClr val="D3C3F0"/>
            </a:solidFill>
            <a:prstDash val="solid"/>
          </a:ln>
        </p:spPr>
      </p:sp>
      <p:pic>
        <p:nvPicPr>
          <p:cNvPr id="8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416937" y="2670638"/>
            <a:ext cx="222085" cy="247633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13743781" y="2599035"/>
            <a:ext cx="3717013" cy="429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limpos alimentam </a:t>
            </a:r>
            <a:pPr algn="l" indent="0" marL="0">
              <a:lnSpc>
                <a:spcPct val="135000"/>
              </a:lnSpc>
              <a:buNone/>
            </a:pPr>
            <a:r>
              <a:rPr lang="en-US" sz="1125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clínicas de IA </a:t>
            </a:r>
            <a:pPr algn="l"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(ex.: Sofya)</a:t>
            </a:r>
            <a:endParaRPr lang="en-US" sz="1125" dirty="0"/>
          </a:p>
        </p:txBody>
      </p:sp>
      <p:sp>
        <p:nvSpPr>
          <p:cNvPr id="83" name="Shape 67"/>
          <p:cNvSpPr/>
          <p:nvPr/>
        </p:nvSpPr>
        <p:spPr>
          <a:xfrm>
            <a:off x="13273070" y="3248091"/>
            <a:ext cx="4223329" cy="505768"/>
          </a:xfrm>
          <a:prstGeom prst="roundRect">
            <a:avLst>
              <a:gd name="adj" fmla="val 20716"/>
            </a:avLst>
          </a:prstGeom>
          <a:solidFill>
            <a:srgbClr val="FFFFFF"/>
          </a:solidFill>
          <a:ln w="5292">
            <a:solidFill>
              <a:srgbClr val="CDE6D8"/>
            </a:solidFill>
            <a:prstDash val="solid"/>
          </a:ln>
        </p:spPr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421237" y="3377158"/>
            <a:ext cx="247633" cy="247633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13792645" y="3393116"/>
            <a:ext cx="2449024" cy="253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paciente </a:t>
            </a:r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unificado</a:t>
            </a:r>
            <a:endParaRPr lang="en-US" sz="1275" dirty="0"/>
          </a:p>
        </p:txBody>
      </p:sp>
      <p:sp>
        <p:nvSpPr>
          <p:cNvPr id="86" name="Shape 69"/>
          <p:cNvSpPr/>
          <p:nvPr/>
        </p:nvSpPr>
        <p:spPr>
          <a:xfrm>
            <a:off x="13273070" y="3858617"/>
            <a:ext cx="4223329" cy="505768"/>
          </a:xfrm>
          <a:prstGeom prst="roundRect">
            <a:avLst>
              <a:gd name="adj" fmla="val 20716"/>
            </a:avLst>
          </a:prstGeom>
          <a:solidFill>
            <a:srgbClr val="FFFFFF"/>
          </a:solidFill>
          <a:ln w="5292">
            <a:solidFill>
              <a:srgbClr val="CDE6D8"/>
            </a:solidFill>
            <a:prstDash val="solid"/>
          </a:ln>
        </p:spPr>
      </p:sp>
      <p:pic>
        <p:nvPicPr>
          <p:cNvPr id="8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421237" y="3987684"/>
            <a:ext cx="247633" cy="247633"/>
          </a:xfrm>
          <a:prstGeom prst="rect">
            <a:avLst/>
          </a:prstGeom>
        </p:spPr>
      </p:pic>
      <p:sp>
        <p:nvSpPr>
          <p:cNvPr id="88" name="Text 70"/>
          <p:cNvSpPr/>
          <p:nvPr/>
        </p:nvSpPr>
        <p:spPr>
          <a:xfrm>
            <a:off x="13792645" y="4003642"/>
            <a:ext cx="2508779" cy="253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 e cadastros </a:t>
            </a:r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endParaRPr lang="en-US" sz="1275" dirty="0"/>
          </a:p>
        </p:txBody>
      </p:sp>
      <p:sp>
        <p:nvSpPr>
          <p:cNvPr id="89" name="Shape 71"/>
          <p:cNvSpPr/>
          <p:nvPr/>
        </p:nvSpPr>
        <p:spPr>
          <a:xfrm>
            <a:off x="13273070" y="4469143"/>
            <a:ext cx="4223329" cy="505768"/>
          </a:xfrm>
          <a:prstGeom prst="roundRect">
            <a:avLst>
              <a:gd name="adj" fmla="val 20716"/>
            </a:avLst>
          </a:prstGeom>
          <a:solidFill>
            <a:srgbClr val="FFFFFF"/>
          </a:solidFill>
          <a:ln w="5292">
            <a:solidFill>
              <a:srgbClr val="CDE6D8"/>
            </a:solidFill>
            <a:prstDash val="solid"/>
          </a:ln>
        </p:spPr>
      </p:sp>
      <p:pic>
        <p:nvPicPr>
          <p:cNvPr id="9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421237" y="4598210"/>
            <a:ext cx="247633" cy="247633"/>
          </a:xfrm>
          <a:prstGeom prst="rect">
            <a:avLst/>
          </a:prstGeom>
        </p:spPr>
      </p:pic>
      <p:sp>
        <p:nvSpPr>
          <p:cNvPr id="91" name="Text 72"/>
          <p:cNvSpPr/>
          <p:nvPr/>
        </p:nvSpPr>
        <p:spPr>
          <a:xfrm>
            <a:off x="13792645" y="4614168"/>
            <a:ext cx="2779539" cy="253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glosas · </a:t>
            </a:r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correto</a:t>
            </a:r>
            <a:endParaRPr lang="en-US" sz="1275" dirty="0"/>
          </a:p>
        </p:txBody>
      </p:sp>
      <p:sp>
        <p:nvSpPr>
          <p:cNvPr id="92" name="Shape 73"/>
          <p:cNvSpPr/>
          <p:nvPr/>
        </p:nvSpPr>
        <p:spPr>
          <a:xfrm>
            <a:off x="13273070" y="5079669"/>
            <a:ext cx="4223329" cy="505768"/>
          </a:xfrm>
          <a:prstGeom prst="roundRect">
            <a:avLst>
              <a:gd name="adj" fmla="val 20716"/>
            </a:avLst>
          </a:prstGeom>
          <a:solidFill>
            <a:srgbClr val="FFFFFF"/>
          </a:solidFill>
          <a:ln w="5292">
            <a:solidFill>
              <a:srgbClr val="CDE6D8"/>
            </a:solidFill>
            <a:prstDash val="solid"/>
          </a:ln>
        </p:spPr>
      </p:sp>
      <p:pic>
        <p:nvPicPr>
          <p:cNvPr id="93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21237" y="5208736"/>
            <a:ext cx="247633" cy="247633"/>
          </a:xfrm>
          <a:prstGeom prst="rect">
            <a:avLst/>
          </a:prstGeom>
        </p:spPr>
      </p:pic>
      <p:sp>
        <p:nvSpPr>
          <p:cNvPr id="94" name="Text 74"/>
          <p:cNvSpPr/>
          <p:nvPr/>
        </p:nvSpPr>
        <p:spPr>
          <a:xfrm>
            <a:off x="13792645" y="5224694"/>
            <a:ext cx="2410280" cy="253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administrativa </a:t>
            </a:r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liberada</a:t>
            </a:r>
            <a:endParaRPr lang="en-US" sz="1275" dirty="0"/>
          </a:p>
        </p:txBody>
      </p:sp>
      <p:sp>
        <p:nvSpPr>
          <p:cNvPr id="95" name="Shape 75"/>
          <p:cNvSpPr/>
          <p:nvPr/>
        </p:nvSpPr>
        <p:spPr>
          <a:xfrm>
            <a:off x="13273070" y="5690195"/>
            <a:ext cx="4223329" cy="505768"/>
          </a:xfrm>
          <a:prstGeom prst="roundRect">
            <a:avLst>
              <a:gd name="adj" fmla="val 20716"/>
            </a:avLst>
          </a:prstGeom>
          <a:solidFill>
            <a:srgbClr val="DCEFE4"/>
          </a:solidFill>
          <a:ln w="5292">
            <a:solidFill>
              <a:srgbClr val="BBDFC9"/>
            </a:solidFill>
            <a:prstDash val="solid"/>
          </a:ln>
        </p:spPr>
      </p:sp>
      <p:pic>
        <p:nvPicPr>
          <p:cNvPr id="96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3421237" y="5819262"/>
            <a:ext cx="247633" cy="247633"/>
          </a:xfrm>
          <a:prstGeom prst="rect">
            <a:avLst/>
          </a:prstGeom>
        </p:spPr>
      </p:pic>
      <p:sp>
        <p:nvSpPr>
          <p:cNvPr id="97" name="Text 76"/>
          <p:cNvSpPr/>
          <p:nvPr/>
        </p:nvSpPr>
        <p:spPr>
          <a:xfrm>
            <a:off x="13792645" y="5835220"/>
            <a:ext cx="1840748" cy="253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175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</a:t>
            </a:r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75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atendido</a:t>
            </a:r>
            <a:endParaRPr lang="en-US" sz="1275" dirty="0"/>
          </a:p>
        </p:txBody>
      </p:sp>
      <p:sp>
        <p:nvSpPr>
          <p:cNvPr id="98" name="Shape 77"/>
          <p:cNvSpPr/>
          <p:nvPr/>
        </p:nvSpPr>
        <p:spPr>
          <a:xfrm>
            <a:off x="571500" y="9772715"/>
            <a:ext cx="17144999" cy="9525"/>
          </a:xfrm>
          <a:prstGeom prst="rect">
            <a:avLst/>
          </a:prstGeom>
          <a:solidFill>
            <a:srgbClr val="E2E6EB"/>
          </a:solidFill>
          <a:ln/>
        </p:spPr>
      </p:sp>
      <p:sp>
        <p:nvSpPr>
          <p:cNvPr id="99" name="Text 78"/>
          <p:cNvSpPr/>
          <p:nvPr/>
        </p:nvSpPr>
        <p:spPr>
          <a:xfrm>
            <a:off x="590517" y="9930390"/>
            <a:ext cx="7355259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Tecnologia Oracle: </a:t>
            </a:r>
            <a:pPr algn="l" indent="0" marL="0">
              <a:buNone/>
            </a:pPr>
            <a:r>
              <a:rPr lang="en-US" sz="1125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OCI · Autonomous Database · APEX · OML · OCI AI · Data Safe</a:t>
            </a:r>
            <a:endParaRPr lang="en-US" sz="1125" dirty="0"/>
          </a:p>
        </p:txBody>
      </p:sp>
      <p:sp>
        <p:nvSpPr>
          <p:cNvPr id="100" name="Text 79"/>
          <p:cNvSpPr/>
          <p:nvPr/>
        </p:nvSpPr>
        <p:spPr>
          <a:xfrm>
            <a:off x="16477422" y="9935682"/>
            <a:ext cx="134206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2A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Sutura · Rich Picture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502708"/>
            <a:ext cx="304767" cy="3047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551" y="438133"/>
            <a:ext cx="5928519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7" kern="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Stakeholders — Sutura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09633" y="957709"/>
            <a:ext cx="5928428" cy="286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integração e automação para ERPs de saúde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5318382" y="438133"/>
            <a:ext cx="2398117" cy="682460"/>
          </a:xfrm>
          <a:prstGeom prst="roundRect">
            <a:avLst>
              <a:gd name="adj" fmla="val 16748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85565" y="604242"/>
            <a:ext cx="342883" cy="95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933208" y="567200"/>
            <a:ext cx="171559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cheia = </a:t>
            </a:r>
            <a:pPr algn="l" indent="0" marL="0">
              <a:buNone/>
            </a:pPr>
            <a:r>
              <a:rPr lang="en-US" sz="1013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crítica</a:t>
            </a:r>
            <a:endParaRPr lang="en-US" sz="101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85565" y="859234"/>
            <a:ext cx="342883" cy="95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933208" y="822193"/>
            <a:ext cx="177771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fina = relação de apoio</a:t>
            </a:r>
            <a:endParaRPr lang="en-US" sz="101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810499" y="4238625"/>
            <a:ext cx="2667000" cy="2667000"/>
          </a:xfrm>
          <a:prstGeom prst="ellipse">
            <a:avLst/>
          </a:prstGeom>
          <a:solidFill>
            <a:srgbClr val="FFFFFF"/>
          </a:solidFill>
          <a:ln w="26458">
            <a:solidFill>
              <a:srgbClr val="2C6BC4"/>
            </a:solidFill>
            <a:prstDash val="solid"/>
          </a:ln>
          <a:effectLst>
            <a:outerShdw sx="100000" sy="100000" kx="0" ky="0" algn="bl" rotWithShape="0" blurRad="419100" dist="152400" dir="5400000">
              <a:srgbClr val="2C6BC4">
                <a:alpha val="22000"/>
              </a:srgbClr>
            </a:outerShdw>
          </a:effectLst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3499" y="4957630"/>
            <a:ext cx="381000" cy="381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482066" y="5414781"/>
            <a:ext cx="132378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38" kern="0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SUTURA</a:t>
            </a:r>
            <a:endParaRPr lang="en-US" sz="2250" dirty="0"/>
          </a:p>
        </p:txBody>
      </p:sp>
      <p:sp>
        <p:nvSpPr>
          <p:cNvPr id="14" name="Text 7"/>
          <p:cNvSpPr/>
          <p:nvPr/>
        </p:nvSpPr>
        <p:spPr>
          <a:xfrm>
            <a:off x="8556062" y="5799997"/>
            <a:ext cx="1175874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unificados + automação + IA</a:t>
            </a:r>
            <a:endParaRPr lang="en-US" sz="1088" dirty="0"/>
          </a:p>
        </p:txBody>
      </p:sp>
      <p:sp>
        <p:nvSpPr>
          <p:cNvPr id="15" name="Shape 8"/>
          <p:cNvSpPr/>
          <p:nvPr/>
        </p:nvSpPr>
        <p:spPr>
          <a:xfrm>
            <a:off x="7886733" y="1803714"/>
            <a:ext cx="2514534" cy="774072"/>
          </a:xfrm>
          <a:prstGeom prst="roundRect">
            <a:avLst>
              <a:gd name="adj" fmla="val 15997"/>
            </a:avLst>
          </a:prstGeom>
          <a:solidFill>
            <a:srgbClr val="FFFFFF"/>
          </a:solidFill>
          <a:ln w="21167">
            <a:solidFill>
              <a:srgbClr val="2C6BC4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8050774" y="200025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9F1FB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36516" y="2085991"/>
            <a:ext cx="209517" cy="20951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46041" y="1948656"/>
            <a:ext cx="1860302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/ Hospital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546041" y="2123281"/>
            <a:ext cx="1767384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pagante — quer eficiência e menos glosa</a:t>
            </a:r>
            <a:endParaRPr lang="en-US" sz="938" dirty="0"/>
          </a:p>
        </p:txBody>
      </p:sp>
      <p:sp>
        <p:nvSpPr>
          <p:cNvPr id="20" name="Shape 12"/>
          <p:cNvSpPr/>
          <p:nvPr/>
        </p:nvSpPr>
        <p:spPr>
          <a:xfrm>
            <a:off x="11439508" y="2337097"/>
            <a:ext cx="2514534" cy="774072"/>
          </a:xfrm>
          <a:prstGeom prst="roundRect">
            <a:avLst>
              <a:gd name="adj" fmla="val 15997"/>
            </a:avLst>
          </a:prstGeom>
          <a:solidFill>
            <a:srgbClr val="FFFFFF"/>
          </a:solidFill>
          <a:ln w="21167">
            <a:solidFill>
              <a:srgbClr val="2C6BC4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11603550" y="2533633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9F1FB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89291" y="2619375"/>
            <a:ext cx="209517" cy="20951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098816" y="2482039"/>
            <a:ext cx="1860302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administrativa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12098816" y="2656665"/>
            <a:ext cx="1767384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— maior beneficiário da automação</a:t>
            </a:r>
            <a:endParaRPr lang="en-US" sz="938" dirty="0"/>
          </a:p>
        </p:txBody>
      </p:sp>
      <p:sp>
        <p:nvSpPr>
          <p:cNvPr id="25" name="Shape 16"/>
          <p:cNvSpPr/>
          <p:nvPr/>
        </p:nvSpPr>
        <p:spPr>
          <a:xfrm>
            <a:off x="13868383" y="3795448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ECCFA8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14021841" y="398140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FBF0E4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107582" y="4067142"/>
            <a:ext cx="209517" cy="209517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4517108" y="3929806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Operadora / convênio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4517108" y="4104431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faturamento limpo, menos glosas</a:t>
            </a:r>
            <a:endParaRPr lang="en-US" sz="938" dirty="0"/>
          </a:p>
        </p:txBody>
      </p:sp>
      <p:sp>
        <p:nvSpPr>
          <p:cNvPr id="30" name="Shape 20"/>
          <p:cNvSpPr/>
          <p:nvPr/>
        </p:nvSpPr>
        <p:spPr>
          <a:xfrm>
            <a:off x="14392258" y="5584610"/>
            <a:ext cx="2514534" cy="927530"/>
          </a:xfrm>
          <a:prstGeom prst="roundRect">
            <a:avLst>
              <a:gd name="adj" fmla="val 13350"/>
            </a:avLst>
          </a:prstGeom>
          <a:solidFill>
            <a:srgbClr val="FFFFFF"/>
          </a:solidFill>
          <a:ln w="10583">
            <a:solidFill>
              <a:srgbClr val="CCD2DB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14545716" y="5857874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DEFF2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631457" y="5943616"/>
            <a:ext cx="209517" cy="209517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40983" y="5718968"/>
            <a:ext cx="17885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ERPs de saúde </a:t>
            </a:r>
            <a:pPr algn="l" indent="0" marL="0">
              <a:buNone/>
            </a:pPr>
            <a:r>
              <a:rPr lang="en-US" sz="900" b="1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(MV, Tasy…)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15040983" y="6068219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que a Sutura conecta</a:t>
            </a:r>
            <a:endParaRPr lang="en-US" sz="938" dirty="0"/>
          </a:p>
        </p:txBody>
      </p:sp>
      <p:sp>
        <p:nvSpPr>
          <p:cNvPr id="35" name="Shape 24"/>
          <p:cNvSpPr/>
          <p:nvPr/>
        </p:nvSpPr>
        <p:spPr>
          <a:xfrm>
            <a:off x="12849241" y="7394856"/>
            <a:ext cx="2514534" cy="774072"/>
          </a:xfrm>
          <a:prstGeom prst="roundRect">
            <a:avLst>
              <a:gd name="adj" fmla="val 15997"/>
            </a:avLst>
          </a:prstGeom>
          <a:solidFill>
            <a:srgbClr val="FFFFFF"/>
          </a:solidFill>
          <a:ln w="21167">
            <a:solidFill>
              <a:srgbClr val="6B7686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13013282" y="7591391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DEFF2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099024" y="7677133"/>
            <a:ext cx="209517" cy="209517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13508550" y="7539798"/>
            <a:ext cx="1860302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/ fornecedor do ERP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13508550" y="7714423"/>
            <a:ext cx="1767384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a integração — parceiro ou ponto de atrito</a:t>
            </a:r>
            <a:endParaRPr lang="en-US" sz="938" dirty="0"/>
          </a:p>
        </p:txBody>
      </p:sp>
      <p:sp>
        <p:nvSpPr>
          <p:cNvPr id="40" name="Shape 28"/>
          <p:cNvSpPr/>
          <p:nvPr/>
        </p:nvSpPr>
        <p:spPr>
          <a:xfrm>
            <a:off x="9744108" y="8443681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D3C3F0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9897566" y="8629633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F0EAFB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83307" y="8715374"/>
            <a:ext cx="209517" cy="209517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0392833" y="8578039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de IA clínica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10392833" y="8752664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Ex.: Sofya — parceiro do ecossistema, não concorrente</a:t>
            </a:r>
            <a:endParaRPr lang="en-US" sz="938" dirty="0"/>
          </a:p>
        </p:txBody>
      </p:sp>
      <p:sp>
        <p:nvSpPr>
          <p:cNvPr id="45" name="Shape 32"/>
          <p:cNvSpPr/>
          <p:nvPr/>
        </p:nvSpPr>
        <p:spPr>
          <a:xfrm>
            <a:off x="6029358" y="8443681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D3C3F0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6182816" y="8629633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FBECE9"/>
          </a:solidFill>
          <a:ln/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68557" y="8715374"/>
            <a:ext cx="209517" cy="209517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678083" y="8578039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200" dirty="0"/>
          </a:p>
        </p:txBody>
      </p:sp>
      <p:sp>
        <p:nvSpPr>
          <p:cNvPr id="49" name="Text 35"/>
          <p:cNvSpPr/>
          <p:nvPr/>
        </p:nvSpPr>
        <p:spPr>
          <a:xfrm>
            <a:off x="6678083" y="8752664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Parceira de tecnologia — OCI / banco / IA</a:t>
            </a:r>
            <a:endParaRPr lang="en-US" sz="938" dirty="0"/>
          </a:p>
        </p:txBody>
      </p:sp>
      <p:sp>
        <p:nvSpPr>
          <p:cNvPr id="50" name="Shape 36"/>
          <p:cNvSpPr/>
          <p:nvPr/>
        </p:nvSpPr>
        <p:spPr>
          <a:xfrm>
            <a:off x="2924142" y="7405439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D3C3F0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51" name="Shape 37"/>
          <p:cNvSpPr/>
          <p:nvPr/>
        </p:nvSpPr>
        <p:spPr>
          <a:xfrm>
            <a:off x="3077600" y="7591391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F0EAFB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63342" y="7677133"/>
            <a:ext cx="209517" cy="209517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3572867" y="7539798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time (startup)</a:t>
            </a:r>
            <a:endParaRPr lang="en-US" sz="1200" dirty="0"/>
          </a:p>
        </p:txBody>
      </p:sp>
      <p:sp>
        <p:nvSpPr>
          <p:cNvPr id="54" name="Text 39"/>
          <p:cNvSpPr/>
          <p:nvPr/>
        </p:nvSpPr>
        <p:spPr>
          <a:xfrm>
            <a:off x="3572867" y="7714423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constrói e mantém a Sutura</a:t>
            </a:r>
            <a:endParaRPr lang="en-US" sz="938" dirty="0"/>
          </a:p>
        </p:txBody>
      </p:sp>
      <p:sp>
        <p:nvSpPr>
          <p:cNvPr id="55" name="Shape 40"/>
          <p:cNvSpPr/>
          <p:nvPr/>
        </p:nvSpPr>
        <p:spPr>
          <a:xfrm>
            <a:off x="1381125" y="5671922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ECCFA8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56" name="Shape 41"/>
          <p:cNvSpPr/>
          <p:nvPr/>
        </p:nvSpPr>
        <p:spPr>
          <a:xfrm>
            <a:off x="1534583" y="5857874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FBF0E4"/>
          </a:solidFill>
          <a:ln/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20325" y="5943616"/>
            <a:ext cx="209517" cy="209517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2029850" y="5806281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Órgãos reguladores</a:t>
            </a:r>
            <a:endParaRPr lang="en-US" sz="1200" dirty="0"/>
          </a:p>
        </p:txBody>
      </p:sp>
      <p:sp>
        <p:nvSpPr>
          <p:cNvPr id="59" name="Text 43"/>
          <p:cNvSpPr/>
          <p:nvPr/>
        </p:nvSpPr>
        <p:spPr>
          <a:xfrm>
            <a:off x="2029850" y="5980906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 / TISS, LGPD — definem regras e conformidade</a:t>
            </a:r>
            <a:endParaRPr lang="en-US" sz="938" dirty="0"/>
          </a:p>
        </p:txBody>
      </p:sp>
      <p:sp>
        <p:nvSpPr>
          <p:cNvPr id="60" name="Shape 44"/>
          <p:cNvSpPr/>
          <p:nvPr/>
        </p:nvSpPr>
        <p:spPr>
          <a:xfrm>
            <a:off x="1905000" y="3795448"/>
            <a:ext cx="2514534" cy="752905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10583">
            <a:solidFill>
              <a:srgbClr val="BFE0CE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61" name="Shape 45"/>
          <p:cNvSpPr/>
          <p:nvPr/>
        </p:nvSpPr>
        <p:spPr>
          <a:xfrm>
            <a:off x="2058458" y="3981400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6F4EC"/>
          </a:solidFill>
          <a:ln/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44200" y="4067142"/>
            <a:ext cx="209517" cy="209517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2553725" y="3929806"/>
            <a:ext cx="188358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200" dirty="0"/>
          </a:p>
        </p:txBody>
      </p:sp>
      <p:sp>
        <p:nvSpPr>
          <p:cNvPr id="64" name="Text 47"/>
          <p:cNvSpPr/>
          <p:nvPr/>
        </p:nvSpPr>
        <p:spPr>
          <a:xfrm>
            <a:off x="2553725" y="4104431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Beneficiário final — não repete exame nem reconta histórico</a:t>
            </a:r>
            <a:endParaRPr lang="en-US" sz="938" dirty="0"/>
          </a:p>
        </p:txBody>
      </p:sp>
      <p:sp>
        <p:nvSpPr>
          <p:cNvPr id="65" name="Shape 48"/>
          <p:cNvSpPr/>
          <p:nvPr/>
        </p:nvSpPr>
        <p:spPr>
          <a:xfrm>
            <a:off x="4333875" y="2260368"/>
            <a:ext cx="2514534" cy="927530"/>
          </a:xfrm>
          <a:prstGeom prst="roundRect">
            <a:avLst>
              <a:gd name="adj" fmla="val 13350"/>
            </a:avLst>
          </a:prstGeom>
          <a:solidFill>
            <a:srgbClr val="FFFFFF"/>
          </a:solidFill>
          <a:ln w="10583">
            <a:solidFill>
              <a:srgbClr val="BFE0CE"/>
            </a:solidFill>
            <a:prstDash val="solid"/>
          </a:ln>
          <a:effectLst>
            <a:outerShdw sx="100000" sy="100000" kx="0" ky="0" algn="bl" rotWithShape="0" blurRad="152400" dist="47625" dir="5400000">
              <a:srgbClr val="000000">
                <a:alpha val="5000"/>
              </a:srgbClr>
            </a:outerShdw>
          </a:effectLst>
        </p:spPr>
      </p:sp>
      <p:sp>
        <p:nvSpPr>
          <p:cNvPr id="66" name="Shape 49"/>
          <p:cNvSpPr/>
          <p:nvPr/>
        </p:nvSpPr>
        <p:spPr>
          <a:xfrm>
            <a:off x="4487333" y="2533633"/>
            <a:ext cx="381000" cy="381000"/>
          </a:xfrm>
          <a:prstGeom prst="roundRect">
            <a:avLst>
              <a:gd name="adj" fmla="val 22500"/>
            </a:avLst>
          </a:prstGeom>
          <a:solidFill>
            <a:srgbClr val="E6F4EC"/>
          </a:solidFill>
          <a:ln/>
        </p:spPr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573075" y="2619375"/>
            <a:ext cx="209517" cy="209517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4982600" y="2394727"/>
            <a:ext cx="17885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 / equipe assistencial</a:t>
            </a:r>
            <a:endParaRPr lang="en-US" sz="1200" dirty="0"/>
          </a:p>
        </p:txBody>
      </p:sp>
      <p:sp>
        <p:nvSpPr>
          <p:cNvPr id="69" name="Text 51"/>
          <p:cNvSpPr/>
          <p:nvPr/>
        </p:nvSpPr>
        <p:spPr>
          <a:xfrm>
            <a:off x="4982600" y="2743977"/>
            <a:ext cx="1788550" cy="34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8" dirty="0">
                <a:solidFill>
                  <a:srgbClr val="6A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os dados unificados na mão</a:t>
            </a:r>
            <a:endParaRPr lang="en-US" sz="938" dirty="0"/>
          </a:p>
        </p:txBody>
      </p:sp>
      <p:sp>
        <p:nvSpPr>
          <p:cNvPr id="70" name="Shape 52"/>
          <p:cNvSpPr/>
          <p:nvPr/>
        </p:nvSpPr>
        <p:spPr>
          <a:xfrm>
            <a:off x="4572000" y="9345248"/>
            <a:ext cx="9143999" cy="61796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6000"/>
              </a:srgbClr>
            </a:outerShdw>
          </a:effectLst>
        </p:spPr>
      </p:sp>
      <p:sp>
        <p:nvSpPr>
          <p:cNvPr id="71" name="Shape 53"/>
          <p:cNvSpPr/>
          <p:nvPr/>
        </p:nvSpPr>
        <p:spPr>
          <a:xfrm>
            <a:off x="4863041" y="9592303"/>
            <a:ext cx="120799" cy="123775"/>
          </a:xfrm>
          <a:prstGeom prst="roundRect">
            <a:avLst>
              <a:gd name="adj" fmla="val 31540"/>
            </a:avLst>
          </a:prstGeom>
          <a:solidFill>
            <a:srgbClr val="1F8A5B"/>
          </a:solidFill>
          <a:ln/>
        </p:spPr>
      </p:sp>
      <p:sp>
        <p:nvSpPr>
          <p:cNvPr id="72" name="Text 54"/>
          <p:cNvSpPr/>
          <p:nvPr/>
        </p:nvSpPr>
        <p:spPr>
          <a:xfrm>
            <a:off x="5069499" y="9474315"/>
            <a:ext cx="1072439" cy="39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Beneficiários do cuidado</a:t>
            </a:r>
            <a:endParaRPr lang="en-US" sz="1088" dirty="0"/>
          </a:p>
        </p:txBody>
      </p:sp>
      <p:sp>
        <p:nvSpPr>
          <p:cNvPr id="73" name="Shape 55"/>
          <p:cNvSpPr/>
          <p:nvPr/>
        </p:nvSpPr>
        <p:spPr>
          <a:xfrm>
            <a:off x="6803512" y="9592303"/>
            <a:ext cx="120799" cy="123775"/>
          </a:xfrm>
          <a:prstGeom prst="roundRect">
            <a:avLst>
              <a:gd name="adj" fmla="val 31540"/>
            </a:avLst>
          </a:prstGeom>
          <a:solidFill>
            <a:srgbClr val="2C6BC4"/>
          </a:solidFill>
          <a:ln/>
        </p:spPr>
      </p:sp>
      <p:sp>
        <p:nvSpPr>
          <p:cNvPr id="74" name="Text 56"/>
          <p:cNvSpPr/>
          <p:nvPr/>
        </p:nvSpPr>
        <p:spPr>
          <a:xfrm>
            <a:off x="7009970" y="9474315"/>
            <a:ext cx="664898" cy="39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/ operação</a:t>
            </a:r>
            <a:endParaRPr lang="en-US" sz="1088" dirty="0"/>
          </a:p>
        </p:txBody>
      </p:sp>
      <p:sp>
        <p:nvSpPr>
          <p:cNvPr id="75" name="Shape 57"/>
          <p:cNvSpPr/>
          <p:nvPr/>
        </p:nvSpPr>
        <p:spPr>
          <a:xfrm>
            <a:off x="8427640" y="9592303"/>
            <a:ext cx="120799" cy="123775"/>
          </a:xfrm>
          <a:prstGeom prst="roundRect">
            <a:avLst>
              <a:gd name="adj" fmla="val 31540"/>
            </a:avLst>
          </a:prstGeom>
          <a:solidFill>
            <a:srgbClr val="D97A2B"/>
          </a:solidFill>
          <a:ln/>
        </p:spPr>
      </p:sp>
      <p:sp>
        <p:nvSpPr>
          <p:cNvPr id="76" name="Text 58"/>
          <p:cNvSpPr/>
          <p:nvPr/>
        </p:nvSpPr>
        <p:spPr>
          <a:xfrm>
            <a:off x="8634098" y="9474315"/>
            <a:ext cx="709794" cy="39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Externos / regulação</a:t>
            </a:r>
            <a:endParaRPr lang="en-US" sz="1088" dirty="0"/>
          </a:p>
        </p:txBody>
      </p:sp>
      <p:sp>
        <p:nvSpPr>
          <p:cNvPr id="77" name="Shape 59"/>
          <p:cNvSpPr/>
          <p:nvPr/>
        </p:nvSpPr>
        <p:spPr>
          <a:xfrm>
            <a:off x="10125852" y="9592303"/>
            <a:ext cx="120799" cy="123775"/>
          </a:xfrm>
          <a:prstGeom prst="roundRect">
            <a:avLst>
              <a:gd name="adj" fmla="val 31540"/>
            </a:avLst>
          </a:prstGeom>
          <a:solidFill>
            <a:srgbClr val="7C5CD0"/>
          </a:solidFill>
          <a:ln/>
        </p:spPr>
      </p:sp>
      <p:sp>
        <p:nvSpPr>
          <p:cNvPr id="78" name="Text 60"/>
          <p:cNvSpPr/>
          <p:nvPr/>
        </p:nvSpPr>
        <p:spPr>
          <a:xfrm>
            <a:off x="10332309" y="9474315"/>
            <a:ext cx="844402" cy="39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de tecnologia</a:t>
            </a:r>
            <a:endParaRPr lang="en-US" sz="1088" dirty="0"/>
          </a:p>
        </p:txBody>
      </p:sp>
      <p:sp>
        <p:nvSpPr>
          <p:cNvPr id="79" name="Shape 61"/>
          <p:cNvSpPr/>
          <p:nvPr/>
        </p:nvSpPr>
        <p:spPr>
          <a:xfrm>
            <a:off x="11991412" y="9592303"/>
            <a:ext cx="120799" cy="123775"/>
          </a:xfrm>
          <a:prstGeom prst="roundRect">
            <a:avLst>
              <a:gd name="adj" fmla="val 31540"/>
            </a:avLst>
          </a:prstGeom>
          <a:solidFill>
            <a:srgbClr val="6B7686"/>
          </a:solidFill>
          <a:ln/>
        </p:spPr>
      </p:sp>
      <p:sp>
        <p:nvSpPr>
          <p:cNvPr id="80" name="Text 62"/>
          <p:cNvSpPr/>
          <p:nvPr/>
        </p:nvSpPr>
        <p:spPr>
          <a:xfrm>
            <a:off x="12197869" y="9474315"/>
            <a:ext cx="734517" cy="39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integrados</a:t>
            </a:r>
            <a:endParaRPr lang="en-US" sz="10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461409"/>
            <a:ext cx="17144999" cy="9525"/>
          </a:xfrm>
          <a:prstGeom prst="rect">
            <a:avLst/>
          </a:prstGeom>
          <a:solidFill>
            <a:srgbClr val="E2E6EB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559263"/>
            <a:ext cx="590517" cy="590517"/>
          </a:xfrm>
          <a:prstGeom prst="roundRect">
            <a:avLst>
              <a:gd name="adj" fmla="val 25808"/>
            </a:avLst>
          </a:prstGeom>
          <a:solidFill>
            <a:srgbClr val="2C6BC4"/>
          </a:solidFill>
          <a:ln/>
          <a:effectLst>
            <a:outerShdw sx="100000" sy="100000" kx="0" ky="0" algn="bl" rotWithShape="0" blurRad="209550" dist="76200" dir="5400000">
              <a:srgbClr val="2C6BC4">
                <a:alpha val="2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66" y="692630"/>
            <a:ext cx="323784" cy="323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417" y="457150"/>
            <a:ext cx="4240477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75" kern="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Sutura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333417" y="1003184"/>
            <a:ext cx="4240477" cy="286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Costurando os dados fragmentados da saúde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946435" y="676258"/>
            <a:ext cx="2437474" cy="356526"/>
          </a:xfrm>
          <a:prstGeom prst="roundRect">
            <a:avLst>
              <a:gd name="adj" fmla="val 21373"/>
            </a:avLst>
          </a:prstGeom>
          <a:solidFill>
            <a:srgbClr val="E9F1FB"/>
          </a:solidFill>
          <a:ln w="5292">
            <a:solidFill>
              <a:srgbClr val="C2D6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085076" y="767275"/>
            <a:ext cx="2236390" cy="212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5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· camada de integração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479158" y="676258"/>
            <a:ext cx="1237340" cy="356526"/>
          </a:xfrm>
          <a:prstGeom prst="roundRect">
            <a:avLst>
              <a:gd name="adj" fmla="val 21373"/>
            </a:avLst>
          </a:prstGeom>
          <a:solidFill>
            <a:srgbClr val="FBECE9"/>
          </a:solidFill>
          <a:ln w="5292">
            <a:solidFill>
              <a:srgbClr val="E8B9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617800" y="767275"/>
            <a:ext cx="1036257" cy="212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Cloud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1638101"/>
            <a:ext cx="6154952" cy="1746085"/>
          </a:xfrm>
          <a:prstGeom prst="roundRect">
            <a:avLst>
              <a:gd name="adj" fmla="val 8728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25" y="1865643"/>
            <a:ext cx="228534" cy="2285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8618" y="1852910"/>
            <a:ext cx="7963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575" dirty="0"/>
          </a:p>
        </p:txBody>
      </p:sp>
      <p:sp>
        <p:nvSpPr>
          <p:cNvPr id="14" name="Text 10"/>
          <p:cNvSpPr/>
          <p:nvPr/>
        </p:nvSpPr>
        <p:spPr>
          <a:xfrm>
            <a:off x="805325" y="2202160"/>
            <a:ext cx="5857920" cy="534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camada de software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(SaaS)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conecta </a:t>
            </a:r>
            <a:pPr algn="l" indent="0" marL="0">
              <a:lnSpc>
                <a:spcPct val="150000"/>
              </a:lnSpc>
              <a:buNone/>
            </a:pPr>
            <a:r>
              <a:rPr lang="en-US" sz="1275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cima dos ERPs de saúde existentes </a:t>
            </a:r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unificar dados, automatizar o back-office e aplicar IA de apoio.</a:t>
            </a:r>
            <a:endParaRPr lang="en-US" sz="1275" dirty="0"/>
          </a:p>
        </p:txBody>
      </p:sp>
      <p:sp>
        <p:nvSpPr>
          <p:cNvPr id="15" name="Shape 11"/>
          <p:cNvSpPr/>
          <p:nvPr/>
        </p:nvSpPr>
        <p:spPr>
          <a:xfrm>
            <a:off x="805325" y="2793669"/>
            <a:ext cx="5687301" cy="375708"/>
          </a:xfrm>
          <a:prstGeom prst="roundRect">
            <a:avLst>
              <a:gd name="adj" fmla="val 22817"/>
            </a:avLst>
          </a:prstGeom>
          <a:solidFill>
            <a:srgbClr val="E9F1FB"/>
          </a:solidFill>
          <a:ln/>
        </p:spPr>
      </p:sp>
      <p:sp>
        <p:nvSpPr>
          <p:cNvPr id="16" name="Text 12"/>
          <p:cNvSpPr/>
          <p:nvPr/>
        </p:nvSpPr>
        <p:spPr>
          <a:xfrm>
            <a:off x="929150" y="2888919"/>
            <a:ext cx="5610270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2538F"/>
                </a:solidFill>
                <a:highlight>
                  <a:srgbClr val="E9F1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Não substitui os sistemas — </a:t>
            </a:r>
            <a:pPr algn="l" indent="0" marL="0">
              <a:buNone/>
            </a:pPr>
            <a:r>
              <a:rPr lang="en-US" sz="1125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e organiza</a:t>
            </a:r>
            <a:pPr algn="l" indent="0" marL="0">
              <a:buNone/>
            </a:pPr>
            <a:r>
              <a:rPr lang="en-US" sz="1125" dirty="0">
                <a:solidFill>
                  <a:srgbClr val="22538F"/>
                </a:solidFill>
                <a:highlight>
                  <a:srgbClr val="E9F1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17" name="Shape 13"/>
          <p:cNvSpPr/>
          <p:nvPr/>
        </p:nvSpPr>
        <p:spPr>
          <a:xfrm>
            <a:off x="6869327" y="1638101"/>
            <a:ext cx="10847089" cy="1746085"/>
          </a:xfrm>
          <a:prstGeom prst="roundRect">
            <a:avLst>
              <a:gd name="adj" fmla="val 8728"/>
            </a:avLst>
          </a:prstGeom>
          <a:solidFill>
            <a:srgbClr val="FBEDEB"/>
          </a:solidFill>
          <a:ln w="5292">
            <a:solidFill>
              <a:srgbClr val="ECC8C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3152" y="1865643"/>
            <a:ext cx="228534" cy="2285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36445" y="1852910"/>
            <a:ext cx="248113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8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resolve</a:t>
            </a:r>
            <a:endParaRPr lang="en-US" sz="1575" dirty="0"/>
          </a:p>
        </p:txBody>
      </p:sp>
      <p:sp>
        <p:nvSpPr>
          <p:cNvPr id="20" name="Shape 15"/>
          <p:cNvSpPr/>
          <p:nvPr/>
        </p:nvSpPr>
        <p:spPr>
          <a:xfrm>
            <a:off x="7103152" y="2221177"/>
            <a:ext cx="3370957" cy="683121"/>
          </a:xfrm>
          <a:prstGeom prst="roundRect">
            <a:avLst>
              <a:gd name="adj" fmla="val 15338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251319" y="2359752"/>
            <a:ext cx="338208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espalhados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251319" y="2572411"/>
            <a:ext cx="3382086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5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que não conversam entre si</a:t>
            </a:r>
            <a:endParaRPr lang="en-US" sz="1088" dirty="0"/>
          </a:p>
        </p:txBody>
      </p:sp>
      <p:sp>
        <p:nvSpPr>
          <p:cNvPr id="23" name="Shape 18"/>
          <p:cNvSpPr/>
          <p:nvPr/>
        </p:nvSpPr>
        <p:spPr>
          <a:xfrm>
            <a:off x="10607393" y="2221177"/>
            <a:ext cx="3370957" cy="683121"/>
          </a:xfrm>
          <a:prstGeom prst="roundRect">
            <a:avLst>
              <a:gd name="adj" fmla="val 15338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755560" y="2359752"/>
            <a:ext cx="338208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manual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755560" y="2572411"/>
            <a:ext cx="3382086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5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Back-office cheio de glosas</a:t>
            </a:r>
            <a:endParaRPr lang="en-US" sz="1088" dirty="0"/>
          </a:p>
        </p:txBody>
      </p:sp>
      <p:sp>
        <p:nvSpPr>
          <p:cNvPr id="26" name="Shape 21"/>
          <p:cNvSpPr/>
          <p:nvPr/>
        </p:nvSpPr>
        <p:spPr>
          <a:xfrm>
            <a:off x="14111634" y="2221177"/>
            <a:ext cx="3370957" cy="683121"/>
          </a:xfrm>
          <a:prstGeom prst="roundRect">
            <a:avLst>
              <a:gd name="adj" fmla="val 15338"/>
            </a:avLst>
          </a:prstGeom>
          <a:solidFill>
            <a:srgbClr val="FFFFFF"/>
          </a:solidFill>
          <a:ln w="5292">
            <a:solidFill>
              <a:srgbClr val="EBD4C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4259801" y="2359752"/>
            <a:ext cx="338208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fragmentado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4259801" y="2572411"/>
            <a:ext cx="3382086" cy="23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dirty="0">
                <a:solidFill>
                  <a:srgbClr val="5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 partido por atendimento</a:t>
            </a:r>
            <a:endParaRPr lang="en-US" sz="1088" dirty="0"/>
          </a:p>
        </p:txBody>
      </p:sp>
      <p:sp>
        <p:nvSpPr>
          <p:cNvPr id="29" name="Shape 24"/>
          <p:cNvSpPr/>
          <p:nvPr/>
        </p:nvSpPr>
        <p:spPr>
          <a:xfrm>
            <a:off x="571500" y="3527061"/>
            <a:ext cx="17144916" cy="2288811"/>
          </a:xfrm>
          <a:prstGeom prst="roundRect">
            <a:avLst>
              <a:gd name="adj" fmla="val 6658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325" y="3754603"/>
            <a:ext cx="228534" cy="22853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38618" y="3741870"/>
            <a:ext cx="279891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— </a:t>
            </a:r>
            <a:pPr algn="l" indent="0" marL="0">
              <a:buNone/>
            </a:pPr>
            <a:r>
              <a:rPr lang="en-US" sz="15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pilares</a:t>
            </a:r>
            <a:endParaRPr lang="en-US" sz="1575" dirty="0"/>
          </a:p>
        </p:txBody>
      </p:sp>
      <p:sp>
        <p:nvSpPr>
          <p:cNvPr id="32" name="Shape 26"/>
          <p:cNvSpPr/>
          <p:nvPr/>
        </p:nvSpPr>
        <p:spPr>
          <a:xfrm>
            <a:off x="805325" y="4148253"/>
            <a:ext cx="5457444" cy="1452810"/>
          </a:xfrm>
          <a:prstGeom prst="roundRect">
            <a:avLst>
              <a:gd name="adj" fmla="val 8523"/>
            </a:avLst>
          </a:prstGeom>
          <a:solidFill>
            <a:srgbClr val="E9F1FB"/>
          </a:solidFill>
          <a:ln w="5292">
            <a:solidFill>
              <a:srgbClr val="C2D6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01117" y="4344045"/>
            <a:ext cx="438133" cy="438133"/>
          </a:xfrm>
          <a:prstGeom prst="roundRect">
            <a:avLst>
              <a:gd name="adj" fmla="val 23914"/>
            </a:avLst>
          </a:prstGeom>
          <a:solidFill>
            <a:srgbClr val="2C6BC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5876" y="4448803"/>
            <a:ext cx="228534" cy="22853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3518" y="4483695"/>
            <a:ext cx="22486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25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1001117" y="4877428"/>
            <a:ext cx="5572447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via API</a:t>
            </a:r>
            <a:endParaRPr lang="en-US" sz="1425" dirty="0"/>
          </a:p>
        </p:txBody>
      </p:sp>
      <p:sp>
        <p:nvSpPr>
          <p:cNvPr id="37" name="Text 30"/>
          <p:cNvSpPr/>
          <p:nvPr/>
        </p:nvSpPr>
        <p:spPr>
          <a:xfrm>
            <a:off x="1001117" y="5179053"/>
            <a:ext cx="5572447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os ERPs de saúde — </a:t>
            </a:r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C46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MV, Tasy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outros.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415153" y="4148253"/>
            <a:ext cx="5457527" cy="1452810"/>
          </a:xfrm>
          <a:prstGeom prst="roundRect">
            <a:avLst>
              <a:gd name="adj" fmla="val 8523"/>
            </a:avLst>
          </a:prstGeom>
          <a:solidFill>
            <a:srgbClr val="E9F1FB"/>
          </a:solidFill>
          <a:ln w="5292">
            <a:solidFill>
              <a:srgbClr val="C2D6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610945" y="4344045"/>
            <a:ext cx="438133" cy="438133"/>
          </a:xfrm>
          <a:prstGeom prst="roundRect">
            <a:avLst>
              <a:gd name="adj" fmla="val 23914"/>
            </a:avLst>
          </a:prstGeom>
          <a:solidFill>
            <a:srgbClr val="2C6BC4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15703" y="4448803"/>
            <a:ext cx="228534" cy="22853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63345" y="4483695"/>
            <a:ext cx="22486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225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42" name="Text 34"/>
          <p:cNvSpPr/>
          <p:nvPr/>
        </p:nvSpPr>
        <p:spPr>
          <a:xfrm>
            <a:off x="6610945" y="4877428"/>
            <a:ext cx="557253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Unificação de dados</a:t>
            </a:r>
            <a:endParaRPr lang="en-US" sz="1425" dirty="0"/>
          </a:p>
        </p:txBody>
      </p:sp>
      <p:sp>
        <p:nvSpPr>
          <p:cNvPr id="43" name="Text 35"/>
          <p:cNvSpPr/>
          <p:nvPr/>
        </p:nvSpPr>
        <p:spPr>
          <a:xfrm>
            <a:off x="6610945" y="5179053"/>
            <a:ext cx="5572538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Costura os prontuários num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único do paciente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12025064" y="4148253"/>
            <a:ext cx="5457527" cy="1452810"/>
          </a:xfrm>
          <a:prstGeom prst="roundRect">
            <a:avLst>
              <a:gd name="adj" fmla="val 8523"/>
            </a:avLst>
          </a:prstGeom>
          <a:solidFill>
            <a:srgbClr val="F0EAFB"/>
          </a:solidFill>
          <a:ln w="5292">
            <a:solidFill>
              <a:srgbClr val="D3C3F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2220855" y="4344045"/>
            <a:ext cx="438133" cy="438133"/>
          </a:xfrm>
          <a:prstGeom prst="roundRect">
            <a:avLst>
              <a:gd name="adj" fmla="val 23914"/>
            </a:avLst>
          </a:prstGeom>
          <a:solidFill>
            <a:srgbClr val="7C5CD0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25614" y="4448803"/>
            <a:ext cx="228534" cy="22853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773255" y="4483695"/>
            <a:ext cx="22486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E4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48" name="Text 39"/>
          <p:cNvSpPr/>
          <p:nvPr/>
        </p:nvSpPr>
        <p:spPr>
          <a:xfrm>
            <a:off x="12220855" y="4877428"/>
            <a:ext cx="5572538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+ IA de bastidor</a:t>
            </a:r>
            <a:endParaRPr lang="en-US" sz="1425" dirty="0"/>
          </a:p>
        </p:txBody>
      </p:sp>
      <p:sp>
        <p:nvSpPr>
          <p:cNvPr id="49" name="Text 40"/>
          <p:cNvSpPr/>
          <p:nvPr/>
        </p:nvSpPr>
        <p:spPr>
          <a:xfrm>
            <a:off x="12220855" y="5179053"/>
            <a:ext cx="5572538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Cargas, cadastros,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de glosas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detecção de inconsistências.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571500" y="5958747"/>
            <a:ext cx="6154952" cy="1648768"/>
          </a:xfrm>
          <a:prstGeom prst="roundRect">
            <a:avLst>
              <a:gd name="adj" fmla="val 9243"/>
            </a:avLst>
          </a:prstGeom>
          <a:solidFill>
            <a:srgbClr val="E8F4EE"/>
          </a:solidFill>
          <a:ln w="5292">
            <a:solidFill>
              <a:srgbClr val="BFE0CE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6309" y="6166197"/>
            <a:ext cx="209517" cy="209517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91075" y="6154539"/>
            <a:ext cx="1579265" cy="27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serve</a:t>
            </a:r>
            <a:endParaRPr lang="en-US" sz="1425" dirty="0"/>
          </a:p>
        </p:txBody>
      </p:sp>
      <p:sp>
        <p:nvSpPr>
          <p:cNvPr id="53" name="Shape 43"/>
          <p:cNvSpPr/>
          <p:nvPr/>
        </p:nvSpPr>
        <p:spPr>
          <a:xfrm>
            <a:off x="786309" y="6501639"/>
            <a:ext cx="1442227" cy="3237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915425" y="6573606"/>
            <a:ext cx="1260194" cy="21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 e hospitais</a:t>
            </a:r>
            <a:endParaRPr lang="en-US" sz="1088" dirty="0"/>
          </a:p>
        </p:txBody>
      </p:sp>
      <p:sp>
        <p:nvSpPr>
          <p:cNvPr id="55" name="Shape 45"/>
          <p:cNvSpPr/>
          <p:nvPr/>
        </p:nvSpPr>
        <p:spPr>
          <a:xfrm>
            <a:off x="2304686" y="6501639"/>
            <a:ext cx="1602961" cy="3237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2433803" y="6573606"/>
            <a:ext cx="1420928" cy="21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administrativa</a:t>
            </a:r>
            <a:endParaRPr lang="en-US" sz="1088" dirty="0"/>
          </a:p>
        </p:txBody>
      </p:sp>
      <p:sp>
        <p:nvSpPr>
          <p:cNvPr id="57" name="Shape 47"/>
          <p:cNvSpPr/>
          <p:nvPr/>
        </p:nvSpPr>
        <p:spPr>
          <a:xfrm>
            <a:off x="3983798" y="6501639"/>
            <a:ext cx="773989" cy="3237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4112914" y="6573606"/>
            <a:ext cx="591956" cy="21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</a:t>
            </a:r>
            <a:endParaRPr lang="en-US" sz="1088" dirty="0"/>
          </a:p>
        </p:txBody>
      </p:sp>
      <p:sp>
        <p:nvSpPr>
          <p:cNvPr id="59" name="Shape 49"/>
          <p:cNvSpPr/>
          <p:nvPr/>
        </p:nvSpPr>
        <p:spPr>
          <a:xfrm>
            <a:off x="4833937" y="6501639"/>
            <a:ext cx="863534" cy="3237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4963054" y="6573606"/>
            <a:ext cx="681500" cy="21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</a:t>
            </a:r>
            <a:endParaRPr lang="en-US" sz="1088" dirty="0"/>
          </a:p>
        </p:txBody>
      </p:sp>
      <p:sp>
        <p:nvSpPr>
          <p:cNvPr id="61" name="Shape 51"/>
          <p:cNvSpPr/>
          <p:nvPr/>
        </p:nvSpPr>
        <p:spPr>
          <a:xfrm>
            <a:off x="786309" y="6901573"/>
            <a:ext cx="984333" cy="3237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915425" y="6973540"/>
            <a:ext cx="802299" cy="21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Operadoras</a:t>
            </a:r>
            <a:endParaRPr lang="en-US" sz="1088" dirty="0"/>
          </a:p>
        </p:txBody>
      </p:sp>
      <p:sp>
        <p:nvSpPr>
          <p:cNvPr id="63" name="Shape 53"/>
          <p:cNvSpPr/>
          <p:nvPr/>
        </p:nvSpPr>
        <p:spPr>
          <a:xfrm>
            <a:off x="6869327" y="5958747"/>
            <a:ext cx="5352107" cy="1648768"/>
          </a:xfrm>
          <a:prstGeom prst="roundRect">
            <a:avLst>
              <a:gd name="adj" fmla="val 9243"/>
            </a:avLst>
          </a:prstGeom>
          <a:solidFill>
            <a:srgbClr val="F0EAFB"/>
          </a:solidFill>
          <a:ln w="5292">
            <a:solidFill>
              <a:srgbClr val="D3C3F0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4136" y="6166197"/>
            <a:ext cx="209517" cy="209517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388902" y="6154539"/>
            <a:ext cx="1014231" cy="27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</a:t>
            </a:r>
            <a:endParaRPr lang="en-US" sz="1425" dirty="0"/>
          </a:p>
        </p:txBody>
      </p:sp>
      <p:sp>
        <p:nvSpPr>
          <p:cNvPr id="66" name="Text 55"/>
          <p:cNvSpPr/>
          <p:nvPr/>
        </p:nvSpPr>
        <p:spPr>
          <a:xfrm>
            <a:off x="7084136" y="6482622"/>
            <a:ext cx="5070164" cy="707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Diferente de assistentes clínicos de IA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(ex.: Sofya)</a:t>
            </a:r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Sutura foca em </a:t>
            </a:r>
            <a:pPr algn="l" indent="0" marL="0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back-office </a:t>
            </a:r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 ainda alimenta essas ferramentas com dados limpos.</a:t>
            </a:r>
            <a:endParaRPr lang="en-US" sz="1163" dirty="0"/>
          </a:p>
        </p:txBody>
      </p:sp>
      <p:sp>
        <p:nvSpPr>
          <p:cNvPr id="67" name="Text 56"/>
          <p:cNvSpPr/>
          <p:nvPr/>
        </p:nvSpPr>
        <p:spPr>
          <a:xfrm>
            <a:off x="7084136" y="7247681"/>
            <a:ext cx="5414739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Parceria, não competição.</a:t>
            </a:r>
            <a:endParaRPr lang="en-US" sz="1088" dirty="0"/>
          </a:p>
        </p:txBody>
      </p:sp>
      <p:sp>
        <p:nvSpPr>
          <p:cNvPr id="68" name="Shape 57"/>
          <p:cNvSpPr/>
          <p:nvPr/>
        </p:nvSpPr>
        <p:spPr>
          <a:xfrm>
            <a:off x="12364309" y="5958747"/>
            <a:ext cx="5352107" cy="1648768"/>
          </a:xfrm>
          <a:prstGeom prst="roundRect">
            <a:avLst>
              <a:gd name="adj" fmla="val 9243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579118" y="6166197"/>
            <a:ext cx="209517" cy="209517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12883885" y="6154539"/>
            <a:ext cx="1836655" cy="27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425" dirty="0"/>
          </a:p>
        </p:txBody>
      </p:sp>
      <p:sp>
        <p:nvSpPr>
          <p:cNvPr id="71" name="Text 59"/>
          <p:cNvSpPr/>
          <p:nvPr/>
        </p:nvSpPr>
        <p:spPr>
          <a:xfrm>
            <a:off x="12579118" y="6482622"/>
            <a:ext cx="5070164" cy="486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63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por assinatura </a:t>
            </a:r>
            <a:pPr algn="l" indent="0" marL="0">
              <a:lnSpc>
                <a:spcPct val="150000"/>
              </a:lnSpc>
              <a:buNone/>
            </a:pPr>
            <a:r>
              <a:rPr lang="en-US" sz="1163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versão simples para clínicas, robusta para hospitais.</a:t>
            </a:r>
            <a:endParaRPr lang="en-US" sz="1163" dirty="0"/>
          </a:p>
        </p:txBody>
      </p:sp>
      <p:sp>
        <p:nvSpPr>
          <p:cNvPr id="72" name="Shape 60"/>
          <p:cNvSpPr/>
          <p:nvPr/>
        </p:nvSpPr>
        <p:spPr>
          <a:xfrm>
            <a:off x="571500" y="7750390"/>
            <a:ext cx="17144916" cy="2279137"/>
          </a:xfrm>
          <a:prstGeom prst="roundRect">
            <a:avLst>
              <a:gd name="adj" fmla="val 6687"/>
            </a:avLst>
          </a:prstGeom>
          <a:solidFill>
            <a:srgbClr val="FBECE9"/>
          </a:solidFill>
          <a:ln w="5292">
            <a:solidFill>
              <a:srgbClr val="E8B9B0"/>
            </a:solidFill>
            <a:prstDash val="solid"/>
          </a:ln>
        </p:spPr>
      </p:sp>
      <p:pic>
        <p:nvPicPr>
          <p:cNvPr id="7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6309" y="7939815"/>
            <a:ext cx="228534" cy="228534"/>
          </a:xfrm>
          <a:prstGeom prst="rect">
            <a:avLst/>
          </a:prstGeom>
        </p:spPr>
      </p:pic>
      <p:sp>
        <p:nvSpPr>
          <p:cNvPr id="74" name="Text 61"/>
          <p:cNvSpPr/>
          <p:nvPr/>
        </p:nvSpPr>
        <p:spPr>
          <a:xfrm>
            <a:off x="1119601" y="7927082"/>
            <a:ext cx="188022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8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Oracle</a:t>
            </a:r>
            <a:endParaRPr lang="en-US" sz="1575" dirty="0"/>
          </a:p>
        </p:txBody>
      </p:sp>
      <p:sp>
        <p:nvSpPr>
          <p:cNvPr id="75" name="Shape 62"/>
          <p:cNvSpPr/>
          <p:nvPr/>
        </p:nvSpPr>
        <p:spPr>
          <a:xfrm>
            <a:off x="2933650" y="7936673"/>
            <a:ext cx="2122206" cy="234818"/>
          </a:xfrm>
          <a:prstGeom prst="roundRect">
            <a:avLst>
              <a:gd name="adj" fmla="val 24338"/>
            </a:avLst>
          </a:prstGeom>
          <a:solidFill>
            <a:srgbClr val="F6D9D3"/>
          </a:solidFill>
          <a:ln/>
        </p:spPr>
      </p:sp>
      <p:sp>
        <p:nvSpPr>
          <p:cNvPr id="76" name="Text 63"/>
          <p:cNvSpPr/>
          <p:nvPr/>
        </p:nvSpPr>
        <p:spPr>
          <a:xfrm>
            <a:off x="3028900" y="7974773"/>
            <a:ext cx="2007906" cy="19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 em Oracle Cloud · OCI</a:t>
            </a:r>
            <a:endParaRPr lang="en-US" sz="975" dirty="0"/>
          </a:p>
        </p:txBody>
      </p:sp>
      <p:sp>
        <p:nvSpPr>
          <p:cNvPr id="77" name="Shape 64"/>
          <p:cNvSpPr/>
          <p:nvPr/>
        </p:nvSpPr>
        <p:spPr>
          <a:xfrm>
            <a:off x="786309" y="8314365"/>
            <a:ext cx="3244039" cy="1538469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5292">
            <a:solidFill>
              <a:srgbClr val="EAD9D4"/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934475" y="8452941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E9F1FB"/>
          </a:solidFill>
          <a:ln/>
        </p:spPr>
      </p:sp>
      <p:pic>
        <p:nvPicPr>
          <p:cNvPr id="7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01117" y="8519583"/>
            <a:ext cx="171400" cy="171400"/>
          </a:xfrm>
          <a:prstGeom prst="rect">
            <a:avLst/>
          </a:prstGeom>
        </p:spPr>
      </p:pic>
      <p:sp>
        <p:nvSpPr>
          <p:cNvPr id="80" name="Text 66"/>
          <p:cNvSpPr/>
          <p:nvPr/>
        </p:nvSpPr>
        <p:spPr>
          <a:xfrm>
            <a:off x="1324901" y="8512720"/>
            <a:ext cx="772716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1163" dirty="0"/>
          </a:p>
        </p:txBody>
      </p:sp>
      <p:sp>
        <p:nvSpPr>
          <p:cNvPr id="81" name="Text 67"/>
          <p:cNvSpPr/>
          <p:nvPr/>
        </p:nvSpPr>
        <p:spPr>
          <a:xfrm>
            <a:off x="934475" y="8852958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Spring Boot </a:t>
            </a:r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(Java é Oracle)</a:t>
            </a:r>
            <a:endParaRPr lang="en-US" sz="975" dirty="0"/>
          </a:p>
        </p:txBody>
      </p:sp>
      <p:sp>
        <p:nvSpPr>
          <p:cNvPr id="82" name="Text 68"/>
          <p:cNvSpPr/>
          <p:nvPr/>
        </p:nvSpPr>
        <p:spPr>
          <a:xfrm>
            <a:off x="934475" y="9082567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Compute (Ampere)</a:t>
            </a:r>
            <a:endParaRPr lang="en-US" sz="975" dirty="0"/>
          </a:p>
        </p:txBody>
      </p:sp>
      <p:sp>
        <p:nvSpPr>
          <p:cNvPr id="83" name="Text 69"/>
          <p:cNvSpPr/>
          <p:nvPr/>
        </p:nvSpPr>
        <p:spPr>
          <a:xfrm>
            <a:off x="934475" y="9312175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975" dirty="0"/>
          </a:p>
        </p:txBody>
      </p:sp>
      <p:sp>
        <p:nvSpPr>
          <p:cNvPr id="84" name="Shape 70"/>
          <p:cNvSpPr/>
          <p:nvPr/>
        </p:nvSpPr>
        <p:spPr>
          <a:xfrm>
            <a:off x="4154123" y="8314365"/>
            <a:ext cx="3244039" cy="1538469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5292">
            <a:solidFill>
              <a:srgbClr val="EAD9D4"/>
            </a:solidFill>
            <a:prstDash val="solid"/>
          </a:ln>
        </p:spPr>
      </p:sp>
      <p:sp>
        <p:nvSpPr>
          <p:cNvPr id="85" name="Shape 71"/>
          <p:cNvSpPr/>
          <p:nvPr/>
        </p:nvSpPr>
        <p:spPr>
          <a:xfrm>
            <a:off x="4302290" y="8452941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FBECE9"/>
          </a:solidFill>
          <a:ln/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368932" y="8519583"/>
            <a:ext cx="171400" cy="171400"/>
          </a:xfrm>
          <a:prstGeom prst="rect">
            <a:avLst/>
          </a:prstGeom>
        </p:spPr>
      </p:pic>
      <p:sp>
        <p:nvSpPr>
          <p:cNvPr id="87" name="Text 72"/>
          <p:cNvSpPr/>
          <p:nvPr/>
        </p:nvSpPr>
        <p:spPr>
          <a:xfrm>
            <a:off x="4692716" y="8512720"/>
            <a:ext cx="520369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A8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163" dirty="0"/>
          </a:p>
        </p:txBody>
      </p:sp>
      <p:sp>
        <p:nvSpPr>
          <p:cNvPr id="88" name="Text 73"/>
          <p:cNvSpPr/>
          <p:nvPr/>
        </p:nvSpPr>
        <p:spPr>
          <a:xfrm>
            <a:off x="4302290" y="8852958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C74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Autonomous Database</a:t>
            </a:r>
            <a:endParaRPr lang="en-US" sz="975" dirty="0"/>
          </a:p>
        </p:txBody>
      </p:sp>
      <p:sp>
        <p:nvSpPr>
          <p:cNvPr id="89" name="Text 74"/>
          <p:cNvSpPr/>
          <p:nvPr/>
        </p:nvSpPr>
        <p:spPr>
          <a:xfrm>
            <a:off x="4302290" y="9082567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C74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Vector Search</a:t>
            </a:r>
            <a:endParaRPr lang="en-US" sz="975" dirty="0"/>
          </a:p>
        </p:txBody>
      </p:sp>
      <p:sp>
        <p:nvSpPr>
          <p:cNvPr id="90" name="Text 75"/>
          <p:cNvSpPr/>
          <p:nvPr/>
        </p:nvSpPr>
        <p:spPr>
          <a:xfrm>
            <a:off x="4302290" y="9312175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C74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</a:t>
            </a:r>
            <a:endParaRPr lang="en-US" sz="975" dirty="0"/>
          </a:p>
        </p:txBody>
      </p:sp>
      <p:sp>
        <p:nvSpPr>
          <p:cNvPr id="91" name="Shape 76"/>
          <p:cNvSpPr/>
          <p:nvPr/>
        </p:nvSpPr>
        <p:spPr>
          <a:xfrm>
            <a:off x="7521939" y="8314365"/>
            <a:ext cx="3244039" cy="1538469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5292">
            <a:solidFill>
              <a:srgbClr val="EAD9D4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7670105" y="8452941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F0EAFB"/>
          </a:solidFill>
          <a:ln/>
        </p:spPr>
      </p:sp>
      <p:pic>
        <p:nvPicPr>
          <p:cNvPr id="9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36747" y="8519583"/>
            <a:ext cx="171400" cy="171400"/>
          </a:xfrm>
          <a:prstGeom prst="rect">
            <a:avLst/>
          </a:prstGeom>
        </p:spPr>
      </p:pic>
      <p:sp>
        <p:nvSpPr>
          <p:cNvPr id="94" name="Text 78"/>
          <p:cNvSpPr/>
          <p:nvPr/>
        </p:nvSpPr>
        <p:spPr>
          <a:xfrm>
            <a:off x="8060531" y="8512720"/>
            <a:ext cx="20791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163" dirty="0"/>
          </a:p>
        </p:txBody>
      </p:sp>
      <p:sp>
        <p:nvSpPr>
          <p:cNvPr id="95" name="Text 79"/>
          <p:cNvSpPr/>
          <p:nvPr/>
        </p:nvSpPr>
        <p:spPr>
          <a:xfrm>
            <a:off x="7670105" y="8852958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7C5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Machine Learning</a:t>
            </a:r>
            <a:endParaRPr lang="en-US" sz="975" dirty="0"/>
          </a:p>
        </p:txBody>
      </p:sp>
      <p:sp>
        <p:nvSpPr>
          <p:cNvPr id="96" name="Text 80"/>
          <p:cNvSpPr/>
          <p:nvPr/>
        </p:nvSpPr>
        <p:spPr>
          <a:xfrm>
            <a:off x="7670105" y="9082567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7C5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Generative AI</a:t>
            </a:r>
            <a:endParaRPr lang="en-US" sz="975" dirty="0"/>
          </a:p>
        </p:txBody>
      </p:sp>
      <p:sp>
        <p:nvSpPr>
          <p:cNvPr id="97" name="Text 81"/>
          <p:cNvSpPr/>
          <p:nvPr/>
        </p:nvSpPr>
        <p:spPr>
          <a:xfrm>
            <a:off x="7670105" y="9312175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7C5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Document Understanding</a:t>
            </a:r>
            <a:endParaRPr lang="en-US" sz="975" dirty="0"/>
          </a:p>
        </p:txBody>
      </p:sp>
      <p:sp>
        <p:nvSpPr>
          <p:cNvPr id="98" name="Text 82"/>
          <p:cNvSpPr/>
          <p:nvPr/>
        </p:nvSpPr>
        <p:spPr>
          <a:xfrm>
            <a:off x="7670105" y="9541784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7C5C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 Language </a:t>
            </a:r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(LGPD)</a:t>
            </a:r>
            <a:endParaRPr lang="en-US" sz="975" dirty="0"/>
          </a:p>
        </p:txBody>
      </p:sp>
      <p:sp>
        <p:nvSpPr>
          <p:cNvPr id="99" name="Shape 83"/>
          <p:cNvSpPr/>
          <p:nvPr/>
        </p:nvSpPr>
        <p:spPr>
          <a:xfrm>
            <a:off x="10889753" y="8314365"/>
            <a:ext cx="3244039" cy="1538469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5292">
            <a:solidFill>
              <a:srgbClr val="EAD9D4"/>
            </a:solidFill>
            <a:prstDash val="solid"/>
          </a:ln>
        </p:spPr>
      </p:sp>
      <p:sp>
        <p:nvSpPr>
          <p:cNvPr id="100" name="Shape 84"/>
          <p:cNvSpPr/>
          <p:nvPr/>
        </p:nvSpPr>
        <p:spPr>
          <a:xfrm>
            <a:off x="11037920" y="8452941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E9F1FB"/>
          </a:solidFill>
          <a:ln/>
        </p:spPr>
      </p:sp>
      <p:pic>
        <p:nvPicPr>
          <p:cNvPr id="10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104562" y="8519583"/>
            <a:ext cx="171400" cy="171400"/>
          </a:xfrm>
          <a:prstGeom prst="rect">
            <a:avLst/>
          </a:prstGeom>
        </p:spPr>
      </p:pic>
      <p:sp>
        <p:nvSpPr>
          <p:cNvPr id="102" name="Text 85"/>
          <p:cNvSpPr/>
          <p:nvPr/>
        </p:nvSpPr>
        <p:spPr>
          <a:xfrm>
            <a:off x="11428345" y="8512720"/>
            <a:ext cx="848535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163" dirty="0"/>
          </a:p>
        </p:txBody>
      </p:sp>
      <p:sp>
        <p:nvSpPr>
          <p:cNvPr id="103" name="Text 86"/>
          <p:cNvSpPr/>
          <p:nvPr/>
        </p:nvSpPr>
        <p:spPr>
          <a:xfrm>
            <a:off x="11037920" y="8852958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ORDS</a:t>
            </a:r>
            <a:endParaRPr lang="en-US" sz="975" dirty="0"/>
          </a:p>
        </p:txBody>
      </p:sp>
      <p:sp>
        <p:nvSpPr>
          <p:cNvPr id="104" name="Text 87"/>
          <p:cNvSpPr/>
          <p:nvPr/>
        </p:nvSpPr>
        <p:spPr>
          <a:xfrm>
            <a:off x="11037920" y="9082567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APEX</a:t>
            </a:r>
            <a:endParaRPr lang="en-US" sz="975" dirty="0"/>
          </a:p>
        </p:txBody>
      </p:sp>
      <p:sp>
        <p:nvSpPr>
          <p:cNvPr id="105" name="Text 88"/>
          <p:cNvSpPr/>
          <p:nvPr/>
        </p:nvSpPr>
        <p:spPr>
          <a:xfrm>
            <a:off x="11037920" y="9312175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2C6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75" dirty="0"/>
          </a:p>
        </p:txBody>
      </p:sp>
      <p:sp>
        <p:nvSpPr>
          <p:cNvPr id="106" name="Shape 89"/>
          <p:cNvSpPr/>
          <p:nvPr/>
        </p:nvSpPr>
        <p:spPr>
          <a:xfrm>
            <a:off x="14257568" y="8314365"/>
            <a:ext cx="3244039" cy="1538469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5292">
            <a:solidFill>
              <a:srgbClr val="EAD9D4"/>
            </a:solidFill>
            <a:prstDash val="solid"/>
          </a:ln>
        </p:spPr>
      </p:sp>
      <p:sp>
        <p:nvSpPr>
          <p:cNvPr id="107" name="Shape 90"/>
          <p:cNvSpPr/>
          <p:nvPr/>
        </p:nvSpPr>
        <p:spPr>
          <a:xfrm>
            <a:off x="14405735" y="8452941"/>
            <a:ext cx="304767" cy="304767"/>
          </a:xfrm>
          <a:prstGeom prst="roundRect">
            <a:avLst>
              <a:gd name="adj" fmla="val 25003"/>
            </a:avLst>
          </a:prstGeom>
          <a:solidFill>
            <a:srgbClr val="E6F4EC"/>
          </a:solidFill>
          <a:ln/>
        </p:spPr>
      </p:sp>
      <p:pic>
        <p:nvPicPr>
          <p:cNvPr id="10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472377" y="8519583"/>
            <a:ext cx="171400" cy="171400"/>
          </a:xfrm>
          <a:prstGeom prst="rect">
            <a:avLst/>
          </a:prstGeom>
        </p:spPr>
      </p:pic>
      <p:sp>
        <p:nvSpPr>
          <p:cNvPr id="109" name="Text 91"/>
          <p:cNvSpPr/>
          <p:nvPr/>
        </p:nvSpPr>
        <p:spPr>
          <a:xfrm>
            <a:off x="14796161" y="8512720"/>
            <a:ext cx="1385995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63" b="1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&amp; Segurança</a:t>
            </a:r>
            <a:endParaRPr lang="en-US" sz="1163" dirty="0"/>
          </a:p>
        </p:txBody>
      </p:sp>
      <p:sp>
        <p:nvSpPr>
          <p:cNvPr id="110" name="Text 92"/>
          <p:cNvSpPr/>
          <p:nvPr/>
        </p:nvSpPr>
        <p:spPr>
          <a:xfrm>
            <a:off x="14405735" y="8852958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OCI</a:t>
            </a:r>
            <a:endParaRPr lang="en-US" sz="975" dirty="0"/>
          </a:p>
        </p:txBody>
      </p:sp>
      <p:sp>
        <p:nvSpPr>
          <p:cNvPr id="111" name="Text 93"/>
          <p:cNvSpPr/>
          <p:nvPr/>
        </p:nvSpPr>
        <p:spPr>
          <a:xfrm>
            <a:off x="14405735" y="9082567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 Safe</a:t>
            </a:r>
            <a:endParaRPr lang="en-US" sz="975" dirty="0"/>
          </a:p>
        </p:txBody>
      </p:sp>
      <p:sp>
        <p:nvSpPr>
          <p:cNvPr id="112" name="Text 94"/>
          <p:cNvSpPr/>
          <p:nvPr/>
        </p:nvSpPr>
        <p:spPr>
          <a:xfrm>
            <a:off x="14405735" y="9312175"/>
            <a:ext cx="3242477" cy="21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381042"/>
            <a:ext cx="17144999" cy="9525"/>
          </a:xfrm>
          <a:prstGeom prst="rect">
            <a:avLst/>
          </a:prstGeom>
          <a:solidFill>
            <a:srgbClr val="E2E6EB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547605"/>
            <a:ext cx="533383" cy="533383"/>
          </a:xfrm>
          <a:prstGeom prst="roundRect">
            <a:avLst>
              <a:gd name="adj" fmla="val 26787"/>
            </a:avLst>
          </a:prstGeom>
          <a:solidFill>
            <a:srgbClr val="2C6BC4"/>
          </a:solidFill>
          <a:ln/>
          <a:effectLst>
            <a:outerShdw sx="100000" sy="100000" kx="0" ky="0" algn="bl" rotWithShape="0" blurRad="209550" dist="76200" dir="5400000">
              <a:srgbClr val="2C6BC4">
                <a:alpha val="2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275" y="671380"/>
            <a:ext cx="285750" cy="285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7267" y="457150"/>
            <a:ext cx="6009919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7" kern="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Impacto, time &amp; próximos passos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57267" y="938692"/>
            <a:ext cx="6009919" cy="270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projeto — Sutura</a:t>
            </a:r>
            <a:endParaRPr lang="en-US" sz="1425" dirty="0"/>
          </a:p>
        </p:txBody>
      </p:sp>
      <p:sp>
        <p:nvSpPr>
          <p:cNvPr id="7" name="Shape 4"/>
          <p:cNvSpPr/>
          <p:nvPr/>
        </p:nvSpPr>
        <p:spPr>
          <a:xfrm>
            <a:off x="15919152" y="636075"/>
            <a:ext cx="1797348" cy="356526"/>
          </a:xfrm>
          <a:prstGeom prst="roundRect">
            <a:avLst>
              <a:gd name="adj" fmla="val 21373"/>
            </a:avLst>
          </a:prstGeom>
          <a:solidFill>
            <a:srgbClr val="EEF1F4"/>
          </a:solidFill>
          <a:ln w="5292">
            <a:solidFill>
              <a:srgbClr val="DCE2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57793" y="727092"/>
            <a:ext cx="1596264" cy="212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A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Estágio: descoberta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1595851"/>
            <a:ext cx="17144999" cy="2460046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325" y="1823392"/>
            <a:ext cx="228534" cy="2285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618" y="1810659"/>
            <a:ext cx="207430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</a:t>
            </a:r>
            <a:pPr algn="l" indent="0" marL="0">
              <a:buNone/>
            </a:pPr>
            <a:r>
              <a:rPr lang="en-US" sz="15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(estimado)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3129111" y="1817605"/>
            <a:ext cx="1415521" cy="240109"/>
          </a:xfrm>
          <a:prstGeom prst="roundRect">
            <a:avLst>
              <a:gd name="adj" fmla="val 23802"/>
            </a:avLst>
          </a:prstGeom>
          <a:solidFill>
            <a:srgbClr val="E6F4EC"/>
          </a:solidFill>
          <a:ln w="5292">
            <a:solidFill>
              <a:srgbClr val="C8E4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29653" y="1860996"/>
            <a:ext cx="1290637" cy="19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1A7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 estimados</a:t>
            </a:r>
            <a:endParaRPr lang="en-US" sz="938" dirty="0"/>
          </a:p>
        </p:txBody>
      </p:sp>
      <p:sp>
        <p:nvSpPr>
          <p:cNvPr id="14" name="Shape 10"/>
          <p:cNvSpPr/>
          <p:nvPr/>
        </p:nvSpPr>
        <p:spPr>
          <a:xfrm>
            <a:off x="805325" y="2217043"/>
            <a:ext cx="5444794" cy="1624045"/>
          </a:xfrm>
          <a:prstGeom prst="roundRect">
            <a:avLst>
              <a:gd name="adj" fmla="val 8211"/>
            </a:avLst>
          </a:prstGeom>
          <a:solidFill>
            <a:srgbClr val="E8F4EE"/>
          </a:solidFill>
          <a:ln w="5292">
            <a:solidFill>
              <a:srgbClr val="BFE0C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20134" y="2412835"/>
            <a:ext cx="551669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+50h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9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3750" dirty="0"/>
          </a:p>
        </p:txBody>
      </p:sp>
      <p:sp>
        <p:nvSpPr>
          <p:cNvPr id="16" name="Text 12"/>
          <p:cNvSpPr/>
          <p:nvPr/>
        </p:nvSpPr>
        <p:spPr>
          <a:xfrm>
            <a:off x="1020134" y="2955726"/>
            <a:ext cx="5516695" cy="25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economizadas em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manuais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21520" y="2217043"/>
            <a:ext cx="5444876" cy="1624045"/>
          </a:xfrm>
          <a:prstGeom prst="roundRect">
            <a:avLst>
              <a:gd name="adj" fmla="val 8211"/>
            </a:avLst>
          </a:prstGeom>
          <a:solidFill>
            <a:srgbClr val="E9F1FB"/>
          </a:solidFill>
          <a:ln w="5292">
            <a:solidFill>
              <a:srgbClr val="C2D6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36329" y="2724464"/>
            <a:ext cx="1264262" cy="361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glosas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7976774" y="2724464"/>
            <a:ext cx="1346341" cy="361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7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receita</a:t>
            </a:r>
            <a:endParaRPr lang="en-US" sz="2550" dirty="0"/>
          </a:p>
        </p:txBody>
      </p:sp>
      <p:sp>
        <p:nvSpPr>
          <p:cNvPr id="20" name="Text 16"/>
          <p:cNvSpPr/>
          <p:nvPr/>
        </p:nvSpPr>
        <p:spPr>
          <a:xfrm>
            <a:off x="6636329" y="3114972"/>
            <a:ext cx="5516786" cy="25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perdas,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correto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2037797" y="2217043"/>
            <a:ext cx="5444876" cy="1624045"/>
          </a:xfrm>
          <a:prstGeom prst="roundRect">
            <a:avLst>
              <a:gd name="adj" fmla="val 8211"/>
            </a:avLst>
          </a:prstGeom>
          <a:solidFill>
            <a:srgbClr val="F0EAFB"/>
          </a:solidFill>
          <a:ln w="5292">
            <a:solidFill>
              <a:srgbClr val="D3C3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2252606" y="2412835"/>
            <a:ext cx="516571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paciente unificado</a:t>
            </a:r>
            <a:endParaRPr lang="en-US" sz="3750" dirty="0"/>
          </a:p>
        </p:txBody>
      </p:sp>
      <p:sp>
        <p:nvSpPr>
          <p:cNvPr id="23" name="Shape 19"/>
          <p:cNvSpPr/>
          <p:nvPr/>
        </p:nvSpPr>
        <p:spPr>
          <a:xfrm>
            <a:off x="571500" y="4227297"/>
            <a:ext cx="6882969" cy="56406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325" y="4454839"/>
            <a:ext cx="228534" cy="2285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38618" y="4442106"/>
            <a:ext cx="121473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nós</a:t>
            </a:r>
            <a:endParaRPr lang="en-US" sz="1575" dirty="0"/>
          </a:p>
        </p:txBody>
      </p:sp>
      <p:sp>
        <p:nvSpPr>
          <p:cNvPr id="26" name="Text 21"/>
          <p:cNvSpPr/>
          <p:nvPr/>
        </p:nvSpPr>
        <p:spPr>
          <a:xfrm>
            <a:off x="805325" y="4829390"/>
            <a:ext cx="7056851" cy="30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 </a:t>
            </a:r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vivência real em ERP de saúde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conhecemos as dores por dentro.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805325" y="9056357"/>
            <a:ext cx="705685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38" kern="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EXPERIÊNCIA TÉCNICA</a:t>
            </a:r>
            <a:endParaRPr lang="en-US" sz="938" dirty="0"/>
          </a:p>
        </p:txBody>
      </p:sp>
      <p:sp>
        <p:nvSpPr>
          <p:cNvPr id="28" name="Shape 23"/>
          <p:cNvSpPr/>
          <p:nvPr/>
        </p:nvSpPr>
        <p:spPr>
          <a:xfrm>
            <a:off x="805325" y="9305065"/>
            <a:ext cx="1489356" cy="348092"/>
          </a:xfrm>
          <a:prstGeom prst="roundRect">
            <a:avLst>
              <a:gd name="adj" fmla="val 50000"/>
            </a:avLst>
          </a:prstGeom>
          <a:solidFill>
            <a:srgbClr val="F0EAFB"/>
          </a:solidFill>
          <a:ln w="5292">
            <a:solidFill>
              <a:srgbClr val="D3C3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53492" y="9386556"/>
            <a:ext cx="1269223" cy="223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</a:t>
            </a:r>
            <a:endParaRPr lang="en-US" sz="1125" dirty="0"/>
          </a:p>
        </p:txBody>
      </p:sp>
      <p:sp>
        <p:nvSpPr>
          <p:cNvPr id="30" name="Shape 25"/>
          <p:cNvSpPr/>
          <p:nvPr/>
        </p:nvSpPr>
        <p:spPr>
          <a:xfrm>
            <a:off x="2389931" y="9305065"/>
            <a:ext cx="806566" cy="348092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5292">
            <a:solidFill>
              <a:srgbClr val="C2D6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538098" y="9386556"/>
            <a:ext cx="586432" cy="223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125" dirty="0"/>
          </a:p>
        </p:txBody>
      </p:sp>
      <p:sp>
        <p:nvSpPr>
          <p:cNvPr id="32" name="Shape 27"/>
          <p:cNvSpPr/>
          <p:nvPr/>
        </p:nvSpPr>
        <p:spPr>
          <a:xfrm>
            <a:off x="7625870" y="4227297"/>
            <a:ext cx="10090629" cy="56406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5292">
            <a:solidFill>
              <a:srgbClr val="E2E6E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9695" y="4454839"/>
            <a:ext cx="228534" cy="22853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192988" y="4442106"/>
            <a:ext cx="239108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</a:t>
            </a:r>
            <a:pPr algn="l" indent="0" marL="0">
              <a:buNone/>
            </a:pPr>
            <a:r>
              <a:rPr lang="en-US" sz="15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MVP</a:t>
            </a:r>
            <a:endParaRPr lang="en-US" sz="1575" dirty="0"/>
          </a:p>
        </p:txBody>
      </p:sp>
      <p:sp>
        <p:nvSpPr>
          <p:cNvPr id="35" name="Shape 29"/>
          <p:cNvSpPr/>
          <p:nvPr/>
        </p:nvSpPr>
        <p:spPr>
          <a:xfrm>
            <a:off x="7859695" y="4848489"/>
            <a:ext cx="2933898" cy="4804668"/>
          </a:xfrm>
          <a:prstGeom prst="roundRect">
            <a:avLst>
              <a:gd name="adj" fmla="val 4220"/>
            </a:avLst>
          </a:prstGeom>
          <a:solidFill>
            <a:srgbClr val="2C6BC4"/>
          </a:solidFill>
          <a:ln/>
          <a:effectLst>
            <a:outerShdw sx="100000" sy="100000" kx="0" ky="0" algn="bl" rotWithShape="0" blurRad="190500" dist="76200" dir="5400000">
              <a:srgbClr val="2C6BC4">
                <a:alpha val="2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8031096" y="5019890"/>
            <a:ext cx="28502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8" kern="0" dirty="0">
                <a:solidFill>
                  <a:srgbClr val="FFFFFF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FASE ATUAL</a:t>
            </a:r>
            <a:endParaRPr lang="en-US" sz="863" dirty="0"/>
          </a:p>
        </p:txBody>
      </p:sp>
      <p:sp>
        <p:nvSpPr>
          <p:cNvPr id="37" name="Text 31"/>
          <p:cNvSpPr/>
          <p:nvPr/>
        </p:nvSpPr>
        <p:spPr>
          <a:xfrm>
            <a:off x="8031096" y="5248423"/>
            <a:ext cx="28502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38" name="Text 32"/>
          <p:cNvSpPr/>
          <p:nvPr/>
        </p:nvSpPr>
        <p:spPr>
          <a:xfrm>
            <a:off x="8031096" y="9276043"/>
            <a:ext cx="2850207" cy="24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do problema</a:t>
            </a:r>
            <a:endParaRPr lang="en-US" sz="12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88843" y="7165082"/>
            <a:ext cx="209517" cy="171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1193611" y="4848489"/>
            <a:ext cx="2944564" cy="4804668"/>
          </a:xfrm>
          <a:prstGeom prst="roundRect">
            <a:avLst>
              <a:gd name="adj" fmla="val 4205"/>
            </a:avLst>
          </a:prstGeom>
          <a:solidFill>
            <a:srgbClr val="EEF3F9"/>
          </a:solidFill>
          <a:ln w="5292">
            <a:solidFill>
              <a:srgbClr val="CBD8E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1370302" y="5025181"/>
            <a:ext cx="28502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8" kern="0" dirty="0">
                <a:solidFill>
                  <a:srgbClr val="225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863" dirty="0"/>
          </a:p>
        </p:txBody>
      </p:sp>
      <p:sp>
        <p:nvSpPr>
          <p:cNvPr id="42" name="Text 35"/>
          <p:cNvSpPr/>
          <p:nvPr/>
        </p:nvSpPr>
        <p:spPr>
          <a:xfrm>
            <a:off x="11370302" y="5253715"/>
            <a:ext cx="28502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225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43" name="Text 36"/>
          <p:cNvSpPr/>
          <p:nvPr/>
        </p:nvSpPr>
        <p:spPr>
          <a:xfrm>
            <a:off x="11370302" y="9054454"/>
            <a:ext cx="2668916" cy="46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 + </a:t>
            </a: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 unificação de dados</a:t>
            </a:r>
            <a:endParaRPr lang="en-US" sz="12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33425" y="7165082"/>
            <a:ext cx="209517" cy="1714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14538192" y="4848489"/>
            <a:ext cx="2944482" cy="4804668"/>
          </a:xfrm>
          <a:prstGeom prst="roundRect">
            <a:avLst>
              <a:gd name="adj" fmla="val 4205"/>
            </a:avLst>
          </a:prstGeom>
          <a:solidFill>
            <a:srgbClr val="F4F0FB"/>
          </a:solidFill>
          <a:ln w="5292">
            <a:solidFill>
              <a:srgbClr val="DED0F2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4714884" y="5025181"/>
            <a:ext cx="285020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8" kern="0" dirty="0">
                <a:solidFill>
                  <a:srgbClr val="5E4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</a:t>
            </a:r>
            <a:endParaRPr lang="en-US" sz="863" dirty="0"/>
          </a:p>
        </p:txBody>
      </p:sp>
      <p:sp>
        <p:nvSpPr>
          <p:cNvPr id="47" name="Text 39"/>
          <p:cNvSpPr/>
          <p:nvPr/>
        </p:nvSpPr>
        <p:spPr>
          <a:xfrm>
            <a:off x="14714884" y="5253715"/>
            <a:ext cx="28502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5E4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48" name="Text 40"/>
          <p:cNvSpPr/>
          <p:nvPr/>
        </p:nvSpPr>
        <p:spPr>
          <a:xfrm>
            <a:off x="14714884" y="9265459"/>
            <a:ext cx="2850207" cy="24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e </a:t>
            </a: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C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2026-06-26T21:22:33Z</dcterms:created>
  <dcterms:modified xsi:type="dcterms:W3CDTF">2026-06-26T21:22:33Z</dcterms:modified>
</cp:coreProperties>
</file>